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6"/>
    <p:sldId id="273" r:id="rId19"/>
    <p:sldId id="274" r:id="rId20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6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Gap of the SSH Chain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65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0">
                <a:solidFill>
                  <a:srgbClr val="CADCFC"/>
                </a:solidFill>
                <a:latin typeface="Calibri"/>
              </a:rPr>
              <a:t>SSH: Su–Schrieffer–Heeger model, a chain with alternating bonds</a:t>
            </a:r>
            <a:endParaRPr lang="en-US" sz="1800" dirty="0"/>
          </a:p>
          <a:p>
            <a:r>
              <a:rPr sz="1500" b="0">
                <a:solidFill>
                  <a:srgbClr val="CADCFC"/>
                </a:solidFill>
                <a:latin typeface="Calibri"/>
              </a:rPr>
              <a:t>tight-binding: electrons hop between neighboring atoms</a:t>
            </a:r>
          </a:p>
          <a:p>
            <a:r>
              <a:rPr sz="1500" b="0">
                <a:solidFill>
                  <a:srgbClr val="CADCFC"/>
                </a:solidFill>
                <a:latin typeface="Calibri"/>
              </a:rPr>
              <a:t>t₁, t₂: hopping energies inside / between unit cells (arbitrary units)</a:t>
            </a:r>
          </a:p>
        </p:txBody>
      </p:sp>
      <p:sp>
        <p:nvSpPr>
          <p:cNvPr id="5" name="Shape 2"/>
          <p:cNvSpPr/>
          <p:nvPr/>
        </p:nvSpPr>
        <p:spPr>
          <a:xfrm>
            <a:off x="1005840" y="3429000"/>
            <a:ext cx="566928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572768" y="3429000"/>
            <a:ext cx="960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532888" y="3429000"/>
            <a:ext cx="566928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099816" y="3429000"/>
            <a:ext cx="960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059936" y="3429000"/>
            <a:ext cx="566928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26864" y="3429000"/>
            <a:ext cx="960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586984" y="3429000"/>
            <a:ext cx="566928" cy="0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153912" y="3429000"/>
            <a:ext cx="960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207008" y="3246120"/>
            <a:ext cx="365760" cy="36576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167128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34056" y="3246120"/>
            <a:ext cx="365760" cy="36576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694176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261104" y="3246120"/>
            <a:ext cx="365760" cy="36576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221224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788152" y="3246120"/>
            <a:ext cx="365760" cy="36576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748272" y="3246120"/>
            <a:ext cx="365760" cy="3657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20251320 Hyosan Shin · PHY4008 Computational Physics · Midterm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from atoms to bands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8" name="Image 0" descr="fig_levels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3063240"/>
          </a:xfrm>
          <a:prstGeom prst="rect">
            <a:avLst/>
          </a:prstGeom>
        </p:spPr>
      </p:pic>
      <p:pic>
        <p:nvPicPr>
          <p:cNvPr id="9" name="Image 1" descr="fig_dimeriz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0482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54880" y="3337560"/>
            <a:ext cx="39319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atoms → N levels → a band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separates metals from semiconductors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bonds can open a gap (polyacetylene)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75488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schematic, not a calculation result.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6160" y="4754880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>
                <a:solidFill>
                  <a:srgbClr val="6B7C8A"/>
                </a:solidFill>
                <a:latin typeface="Calibri"/>
              </a:rPr>
              <a:t>Ref: 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4306824"/>
            <a:ext cx="3822191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6B7C8A"/>
                </a:solidFill>
                <a:latin typeface="Calibri"/>
              </a:rPr>
              <a:t>N: number of atoms; E: electron energy in units of the hopping energy 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and quantities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234440"/>
            <a:ext cx="7863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band gap change with t₂/t₁, and how well does a finite-chain calculation converge to it?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1400" b="0">
                <a:solidFill>
                  <a:srgbClr val="1F2D3A"/>
                </a:solidFill>
                <a:latin typeface="Calibri"/>
              </a:rPr>
              <a:t>E±(k): eigenvalues at every 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29184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E₊ − max E₋ over all k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126480" y="2606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30936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chain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|E| of an open chain (2N×2N matrix)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1050" b="0">
                <a:solidFill>
                  <a:srgbClr val="6B7C8A"/>
                </a:solidFill>
                <a:latin typeface="Calibri"/>
              </a:rPr>
              <a:t>t₁, t₂: hopping energies (an electron hops within / between unit cells; arbitrary units). N</a:t>
            </a:r>
            <a:r>
              <a:rPr sz="1050" b="0" baseline="-25000">
                <a:solidFill>
                  <a:srgbClr val="6B7C8A"/>
                </a:solidFill>
                <a:latin typeface="Calibri"/>
              </a:rPr>
              <a:t>c</a:t>
            </a:r>
            <a:r>
              <a:rPr sz="1050" b="0">
                <a:solidFill>
                  <a:srgbClr val="6B7C8A"/>
                </a:solidFill>
                <a:latin typeface="Calibri"/>
              </a:rPr>
              <a:t>: number of unit cells.</a:t>
            </a:r>
            <a:endParaRPr lang="en-US" sz="1200" dirty="0"/>
          </a:p>
          <a:p>
            <a:r>
              <a:rPr sz="1050" b="0">
                <a:solidFill>
                  <a:srgbClr val="6B7C8A"/>
                </a:solidFill>
                <a:latin typeface="Calibri"/>
              </a:rPr>
              <a:t>Scope: band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model, assumptions, boundary conditions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Image 0" descr="fig_ssh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60120"/>
            <a:ext cx="6949440" cy="154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651760"/>
            <a:ext cx="2560320" cy="1417320"/>
          </a:xfrm>
          <a:prstGeom prst="roundRect">
            <a:avLst>
              <a:gd name="adj" fmla="val 457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9436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3035808"/>
            <a:ext cx="23317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hopping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orbitals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on-site energy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91840" y="2651760"/>
            <a:ext cx="2560320" cy="1417320"/>
          </a:xfrm>
          <a:prstGeom prst="roundRect">
            <a:avLst>
              <a:gd name="adj" fmla="val 457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34290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3035808"/>
            <a:ext cx="23317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Periodic: bands, H(k)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finite chain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2651760"/>
            <a:ext cx="2560320" cy="1417320"/>
          </a:xfrm>
          <a:prstGeom prst="roundRect">
            <a:avLst>
              <a:gd name="adj" fmla="val 457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62636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3035808"/>
            <a:ext cx="23317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chain starts at 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bond is t₁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t₁, t₂ in arbitrary units</a:t>
            </a:r>
            <a:endParaRPr lang="en-US" sz="1300" dirty="0"/>
          </a:p>
        </p:txBody>
      </p:sp>
      <p:sp>
        <p:nvSpPr>
          <p:cNvPr id="17" name="TextBox 16"/>
          <p:cNvSpPr txBox="1"/>
          <p:nvPr/>
        </p:nvSpPr>
        <p:spPr>
          <a:xfrm>
            <a:off x="3566160" y="4754880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>
                <a:solidFill>
                  <a:srgbClr val="6B7C8A"/>
                </a:solidFill>
                <a:latin typeface="Calibri"/>
              </a:rPr>
              <a:t>Ref: [2], [3]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6000"/>
            </a:avLst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187952"/>
            <a:ext cx="8119872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000" b="0">
                <a:solidFill>
                  <a:srgbClr val="1F2D3A"/>
                </a:solidFill>
                <a:latin typeface="Calibri"/>
              </a:rPr>
              <a:t>hopping: energy scale for an electron to move to a neighboring atom  ·  orbital: the electron's state on one atom  ·  on-site energy: energy of an electron sitting on one atom  ·  unit cell: the repeating unit (atoms A and 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200" b="1">
                <a:solidFill>
                  <a:srgbClr val="0B2A3C"/>
                </a:solidFill>
                <a:latin typeface="Calibri"/>
              </a:rPr>
              <a:t>The gap formula, taken from the references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Box 17"/>
          <p:cNvSpPr txBox="1"/>
          <p:nvPr/>
        </p:nvSpPr>
        <p:spPr>
          <a:xfrm>
            <a:off x="3566160" y="4754880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>
                <a:solidFill>
                  <a:srgbClr val="6B7C8A"/>
                </a:solidFill>
                <a:latin typeface="Calibri"/>
              </a:rPr>
              <a:t>Ref: [1],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5000"/>
            </a:avLst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1143000"/>
            <a:ext cx="3877056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E</a:t>
            </a:r>
            <a:r>
              <a:rPr sz="3000" b="1" baseline="-25000">
                <a:solidFill>
                  <a:srgbClr val="FFFFFF"/>
                </a:solidFill>
                <a:latin typeface="Cambria"/>
              </a:rPr>
              <a:t>gap</a:t>
            </a:r>
            <a:r>
              <a:rPr sz="3000" b="1">
                <a:solidFill>
                  <a:srgbClr val="FFFFFF"/>
                </a:solidFill>
                <a:latin typeface="Cambria"/>
              </a:rPr>
              <a:t> = 2|t₁ − t₂|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band gap of the SSH chain, as given in [1], [3]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5000"/>
            </a:avLst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143000"/>
            <a:ext cx="3877056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07A1F"/>
                </a:solidFill>
                <a:latin typeface="Calibri"/>
              </a:rPr>
              <a:t>Band energies (as given in [1], [3])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D3A"/>
                </a:solidFill>
                <a:latin typeface="Calibri"/>
              </a:rPr>
              <a:t>E±(k) = ± √(t₁² + t₂² + 2 t₁t₂ cos ka)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D3A"/>
                </a:solidFill>
                <a:latin typeface="Calibri"/>
              </a:rPr>
              <a:t>largest at k = 0 (t₁ + t₂), smallest at k = π/a (|t₁ − t₂|)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34640"/>
            <a:ext cx="8229600" cy="1600200"/>
          </a:xfrm>
          <a:prstGeom prst="roundRect">
            <a:avLst>
              <a:gd name="adj" fmla="val 5000"/>
            </a:avLst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880360"/>
            <a:ext cx="80832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07A1F"/>
                </a:solidFill>
                <a:latin typeface="Calibri"/>
              </a:rPr>
              <a:t>What this project does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D3A"/>
                </a:solidFill>
                <a:latin typeface="Calibri"/>
              </a:rPr>
              <a:t>Take the formula from the references; do not derive it here.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D3A"/>
                </a:solidFill>
                <a:latin typeface="Calibri"/>
              </a:rPr>
              <a:t>Compute the bands and the gap numerically for many values of t₂/t₁.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F2D3A"/>
                </a:solidFill>
                <a:latin typeface="Calibri"/>
              </a:rPr>
              <a:t>Compare the numerical gap with the formula (slides 8 and 9).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507992"/>
            <a:ext cx="808329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6B7C8A"/>
                </a:solidFill>
                <a:latin typeface="Calibri"/>
              </a:rPr>
              <a:t>k: wavenumber (label of the electron states, 1/length) · a: unit-cell length · t₁, t₂: hopping energies (inside / between unit cells)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computed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572768"/>
            <a:ext cx="31089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of H(k) at each 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624328"/>
            <a:ext cx="31089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E₊ − max E₋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chain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675888"/>
            <a:ext cx="31089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|E| of the 2N×2N matrix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34440"/>
          <a:ext cx="4114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68680"/>
                <a:gridCol w="868680"/>
                <a:gridCol w="868680"/>
                <a:gridCol w="868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A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t₂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A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t₂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7C8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100" b="0">
                <a:solidFill>
                  <a:srgbClr val="6B7C8A"/>
                </a:solidFill>
                <a:latin typeface="Calibri"/>
              </a:rPr>
              <a:t>H for N</a:t>
            </a:r>
            <a:r>
              <a:rPr sz="1100" b="0" baseline="-25000">
                <a:solidFill>
                  <a:srgbClr val="6B7C8A"/>
                </a:solidFill>
                <a:latin typeface="Calibri"/>
              </a:rPr>
              <a:t>c</a:t>
            </a:r>
            <a:r>
              <a:rPr sz="1100" b="0">
                <a:solidFill>
                  <a:srgbClr val="6B7C8A"/>
                </a:solidFill>
                <a:latin typeface="Calibri"/>
              </a:rPr>
              <a:t> = 2 unit cells (4 atoms): an example, not a result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4160520"/>
            <a:ext cx="41148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1050" b="0">
                <a:solidFill>
                  <a:srgbClr val="1F2D3A"/>
                </a:solidFill>
                <a:latin typeface="Calibri"/>
              </a:rPr>
              <a:t>Open chain: diagonalize the full 2N×2N matrix.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344168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225296"/>
            <a:ext cx="3200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input/params.json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23160" y="1874520"/>
            <a:ext cx="0" cy="182880"/>
          </a:xfrm>
          <a:prstGeom prst="line">
            <a:avLst/>
          </a:prstGeom>
          <a:noFill/>
          <a:ln w="19050">
            <a:solidFill>
              <a:srgbClr val="6B7C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20574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2212848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093976"/>
            <a:ext cx="3200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Diagonalize: 2×2 per k, 2N×2N for the open chain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23160" y="2743200"/>
            <a:ext cx="0" cy="182880"/>
          </a:xfrm>
          <a:prstGeom prst="line">
            <a:avLst/>
          </a:prstGeom>
          <a:noFill/>
          <a:ln w="19050">
            <a:solidFill>
              <a:srgbClr val="6B7C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57200" y="29260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081528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2962656"/>
            <a:ext cx="3200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analytic results; vary resolution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423160" y="3611880"/>
            <a:ext cx="0" cy="182880"/>
          </a:xfrm>
          <a:prstGeom prst="line">
            <a:avLst/>
          </a:prstGeom>
          <a:noFill/>
          <a:ln w="19050">
            <a:solidFill>
              <a:srgbClr val="6B7C8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57200" y="3794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594360" y="3950208"/>
            <a:ext cx="365760" cy="365760"/>
          </a:xfrm>
          <a:prstGeom prst="ellipse">
            <a:avLst/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3831336"/>
            <a:ext cx="320040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tables and figures to output/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800600" y="1325880"/>
            <a:ext cx="374904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params.json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grid: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t1 + t2 * exp(i*k*a)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E± = eigvalsh(2x2 matrix)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= min(E+) - max(E-)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H_chain = 2N x 2N, bonds t1, t2, t1,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eigvalsh(H_chain)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with analytic; save to output/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950" b="0">
                <a:solidFill>
                  <a:srgbClr val="6B7C8A"/>
                </a:solidFill>
                <a:latin typeface="Calibri"/>
              </a:rPr>
              <a:t>pseudocode (flow only) · params.json: text file holding all settings · N: number of unit cells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gap depends on t₁ − t₂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Image 0" descr="../midterm-tight-binding/output/figs/fig4_gap_vs_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206240" cy="29077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041648"/>
            <a:ext cx="4206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1000" b="0">
                <a:solidFill>
                  <a:srgbClr val="6B7C8A"/>
                </a:solidFill>
                <a:latin typeface="Calibri"/>
              </a:rPr>
              <a:t>Dots: numerical gap. Line: the formula 2|t₁ − t₂| from the references [1], [3]</a:t>
            </a:r>
            <a:endParaRPr lang="en-US" sz="1050" dirty="0"/>
          </a:p>
        </p:txBody>
      </p:sp>
      <p:pic>
        <p:nvPicPr>
          <p:cNvPr id="10" name="Image 1" descr="../midterm-tight-binding/output/figs/fig3_bands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3840480" cy="1490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4632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for (t₁, t₂) = (1, 0.5) and (0.5, 1): same shape</a:t>
            </a:r>
            <a:endParaRPr lang="en-US" sz="1050" dirty="0"/>
          </a:p>
        </p:txBody>
      </p:sp>
      <p:sp>
        <p:nvSpPr>
          <p:cNvPr id="12" name="Rounded Rectangle 11"/>
          <p:cNvSpPr/>
          <p:nvPr/>
        </p:nvSpPr>
        <p:spPr>
          <a:xfrm>
            <a:off x="4846320" y="3017520"/>
            <a:ext cx="3840480" cy="1371600"/>
          </a:xfrm>
          <a:prstGeom prst="roundRect">
            <a:avLst>
              <a:gd name="adj" fmla="val 5000"/>
            </a:avLst>
          </a:prstGeom>
          <a:solidFill>
            <a:srgbClr val="0B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044952"/>
            <a:ext cx="365760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050" b="1">
                <a:solidFill>
                  <a:srgbClr val="E07A1F"/>
                </a:solidFill>
                <a:latin typeface="Calibri"/>
              </a:rPr>
              <a:t>gap_numeric (notebook §3)</a:t>
            </a:r>
          </a:p>
          <a:p>
            <a:r>
              <a:rPr sz="950">
                <a:solidFill>
                  <a:srgbClr val="FFFFFF"/>
                </a:solidFill>
                <a:latin typeface="Courier New"/>
              </a:rPr>
              <a:t>ks  = np.linspace(-np.pi, np.pi, n_k)</a:t>
            </a:r>
          </a:p>
          <a:p>
            <a:r>
              <a:rPr sz="950">
                <a:solidFill>
                  <a:srgbClr val="FFFFFF"/>
                </a:solidFill>
                <a:latin typeface="Courier New"/>
              </a:rPr>
              <a:t>off = t1 + t2*np.exp(1j*ks)        # h(k)</a:t>
            </a:r>
          </a:p>
          <a:p>
            <a:r>
              <a:rPr sz="950">
                <a:solidFill>
                  <a:srgbClr val="FFFFFF"/>
                </a:solidFill>
                <a:latin typeface="Courier New"/>
              </a:rPr>
              <a:t>H[:,0,1] = off; H[:,1,0] = np.conj(off)</a:t>
            </a:r>
          </a:p>
          <a:p>
            <a:r>
              <a:rPr sz="950">
                <a:solidFill>
                  <a:srgbClr val="FFFFFF"/>
                </a:solidFill>
                <a:latin typeface="Courier New"/>
              </a:rPr>
              <a:t>w   = np.linalg.eigvalsh(H)       # 2x2 per k</a:t>
            </a:r>
          </a:p>
          <a:p>
            <a:r>
              <a:rPr sz="950">
                <a:solidFill>
                  <a:srgbClr val="FFFFFF"/>
                </a:solidFill>
                <a:latin typeface="Courier New"/>
              </a:rPr>
              <a:t>gap = w[:,1].min() - w[:,0].max()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754880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>
                <a:solidFill>
                  <a:srgbClr val="6B7C8A"/>
                </a:solidFill>
                <a:latin typeface="Calibri"/>
              </a:rPr>
              <a:t>Ref: [1], [3]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200" b="1">
                <a:solidFill>
                  <a:srgbClr val="0B2A3C"/>
                </a:solidFill>
                <a:latin typeface="Calibri"/>
              </a:rPr>
              <a:t>Validation: comparison with exact results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../midterm-tight-binding/output/figs/fig2_ring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517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219456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Result: max |difference|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 (20 atoms, ends joined) vs analytic E(k)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1.1×10⁻¹⁵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2×2 vs ±|h(k)|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2.2×10⁻¹⁶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2|t₁ − t₂|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2.4×10⁻¹⁶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 = t₂: SSH ring vs monatomic 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5720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1100" b="0">
                <a:solidFill>
                  <a:srgbClr val="0B2A3C"/>
                </a:solidFill>
                <a:latin typeface="Calibri"/>
              </a:rPr>
              <a:t>error = max |numerical − exact| over all levels. The checks show that the code reproduces the exact results, not that the model matches a real material.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0" y="4754880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B7C8A"/>
                </a:solidFill>
                <a:latin typeface="Calibri"/>
              </a:rPr>
              <a:t>Ref: [2], [3]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resolution and sampling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57200" y="32004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30352" y="3227832"/>
            <a:ext cx="2514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1F2D3A"/>
                </a:solidFill>
                <a:latin typeface="Calibri"/>
              </a:rPr>
              <a:t>k grid: an even number of k points contains k = π (error 0); an odd number skips it (error 0.033 at 17 points)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46120" y="32004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3319272" y="3227832"/>
            <a:ext cx="2514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sz="1000" b="0">
                <a:solidFill>
                  <a:srgbClr val="1F2D3A"/>
                </a:solidFill>
                <a:latin typeface="Calibri"/>
              </a:rPr>
              <a:t>Ring of N atoms: an odd N misses the band top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32004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6108192" y="3227832"/>
            <a:ext cx="2514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000" b="0">
                <a:solidFill>
                  <a:srgbClr val="1F2D3A"/>
                </a:solidFill>
                <a:latin typeface="Calibri"/>
              </a:rPr>
              <a:t>Open chain with N</a:t>
            </a:r>
            <a:r>
              <a:rPr sz="1000" b="0" baseline="-25000">
                <a:solidFill>
                  <a:srgbClr val="1F2D3A"/>
                </a:solidFill>
                <a:latin typeface="Calibri"/>
              </a:rPr>
              <a:t>c</a:t>
            </a:r>
            <a:r>
              <a:rPr sz="1000" b="0">
                <a:solidFill>
                  <a:srgbClr val="1F2D3A"/>
                </a:solidFill>
                <a:latin typeface="Calibri"/>
              </a:rPr>
              <a:t> unit cells: error 0.033, 0.010, 0.0028 at N</a:t>
            </a:r>
            <a:r>
              <a:rPr sz="1000" b="0" baseline="-25000">
                <a:solidFill>
                  <a:srgbClr val="1F2D3A"/>
                </a:solidFill>
                <a:latin typeface="Calibri"/>
              </a:rPr>
              <a:t>c</a:t>
            </a:r>
            <a:r>
              <a:rPr sz="1000" b="0">
                <a:solidFill>
                  <a:srgbClr val="1F2D3A"/>
                </a:solidFill>
                <a:latin typeface="Calibri"/>
              </a:rPr>
              <a:t> = 10, 20, 40, roughly 1/N</a:t>
            </a:r>
            <a:r>
              <a:rPr sz="1000" b="0" baseline="-25000">
                <a:solidFill>
                  <a:srgbClr val="1F2D3A"/>
                </a:solidFill>
                <a:latin typeface="Calibri"/>
              </a:rPr>
              <a:t>c</a:t>
            </a:r>
            <a:r>
              <a:rPr sz="1000" b="0">
                <a:solidFill>
                  <a:srgbClr val="1F2D3A"/>
                </a:solidFill>
                <a:latin typeface="Calibri"/>
              </a:rPr>
              <a:t>²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1200" b="1">
                <a:solidFill>
                  <a:srgbClr val="0B2A3C"/>
                </a:solidFill>
                <a:latin typeface="Calibri"/>
              </a:rPr>
              <a:t>Sampling: not applicable. The calculation is deterministic (no random numbers).</a:t>
            </a:r>
            <a:endParaRPr lang="en-US" sz="1200" dirty="0"/>
          </a:p>
        </p:txBody>
      </p:sp>
      <p:pic>
        <p:nvPicPr>
          <p:cNvPr id="19" name="Picture 18" descr="p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87552"/>
            <a:ext cx="2651760" cy="2106930"/>
          </a:xfrm>
          <a:prstGeom prst="rect">
            <a:avLst/>
          </a:prstGeom>
        </p:spPr>
      </p:pic>
      <p:pic>
        <p:nvPicPr>
          <p:cNvPr id="20" name="Picture 19" descr="p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987552"/>
            <a:ext cx="2651760" cy="2103907"/>
          </a:xfrm>
          <a:prstGeom prst="rect">
            <a:avLst/>
          </a:prstGeom>
        </p:spPr>
      </p:pic>
      <p:pic>
        <p:nvPicPr>
          <p:cNvPr id="21" name="Picture 20" descr="p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987552"/>
            <a:ext cx="2651760" cy="2125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600" b="1">
                <a:solidFill>
                  <a:srgbClr val="0B2A3C"/>
                </a:solidFill>
                <a:latin typeface="Calibri"/>
              </a:rPr>
              <a:t>Interpretation (as explained in the references)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fig_fo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355" y="987552"/>
            <a:ext cx="6509288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840480"/>
            <a:ext cx="2651760" cy="713232"/>
          </a:xfrm>
          <a:prstGeom prst="roundRect">
            <a:avLst>
              <a:gd name="adj" fmla="val 8889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530352" y="3858768"/>
            <a:ext cx="251460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sz="1000" b="0">
                <a:solidFill>
                  <a:srgbClr val="1F2D3A"/>
                </a:solidFill>
                <a:latin typeface="Calibri"/>
              </a:rPr>
              <a:t>t₁ = t₂: a uniform chain, the two bands touch at k = π/a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46120" y="3840480"/>
            <a:ext cx="2651760" cy="713232"/>
          </a:xfrm>
          <a:prstGeom prst="roundRect">
            <a:avLst>
              <a:gd name="adj" fmla="val 8889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3319272" y="3858768"/>
            <a:ext cx="251460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sz="1050" b="0">
                <a:solidFill>
                  <a:srgbClr val="1F2D3A"/>
                </a:solidFill>
                <a:latin typeface="Calibri"/>
              </a:rPr>
              <a:t>t₁ ≠ t₂: a gap opens, 2|t₁ − t₂| (0.8 for 1.2 and 0.8)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0" y="3840480"/>
            <a:ext cx="2651760" cy="713232"/>
          </a:xfrm>
          <a:prstGeom prst="roundRect">
            <a:avLst>
              <a:gd name="adj" fmla="val 8889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6108192" y="3858768"/>
            <a:ext cx="251460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sz="1050" b="0">
                <a:solidFill>
                  <a:srgbClr val="1F2D3A"/>
                </a:solidFill>
                <a:latin typeface="Calibri"/>
              </a:rPr>
              <a:t>Two electrons per cell fill the lower band: gap open = insulator, closed = metallic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572000"/>
            <a:ext cx="7680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900" b="0">
                <a:solidFill>
                  <a:srgbClr val="6B7C8A"/>
                </a:solidFill>
                <a:latin typeface="Calibri"/>
              </a:rPr>
              <a:t>Why alternating bonds open a gap (Peierls instability) is explained in [1], [4]; it is not derived here.</a:t>
            </a:r>
            <a:endParaRPr lang="en-US" sz="900" dirty="0"/>
          </a:p>
        </p:txBody>
      </p:sp>
      <p:sp>
        <p:nvSpPr>
          <p:cNvPr id="15" name="TextBox 14"/>
          <p:cNvSpPr txBox="1"/>
          <p:nvPr/>
        </p:nvSpPr>
        <p:spPr>
          <a:xfrm>
            <a:off x="3566160" y="4754880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>
                <a:solidFill>
                  <a:srgbClr val="6B7C8A"/>
                </a:solidFill>
                <a:latin typeface="Calibri"/>
              </a:rPr>
              <a:t>Ref: [1], [2], [4]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how to check them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34056"/>
        </p:xfrm>
        <a:graphic>
          <a:graphicData uri="http://schemas.openxmlformats.org/drawingml/2006/table">
            <a:tbl>
              <a:tblPr/>
              <a:tblGrid>
                <a:gridCol w="4297680"/>
                <a:gridCol w="3931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 / 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polyacetylene hopping values not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with literature t₁, t₂ and compare with the measured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length up to 160 cells; small gaps (e.g. t₂ = 0.9) not yet asymptotic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chains: check the 1/N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² 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and electron–electron interaction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this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Convention: which atom the chain starts with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with B swaps which chain has the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0" name="Rounded Rectangle 19"/>
          <p:cNvSpPr/>
          <p:nvPr/>
        </p:nvSpPr>
        <p:spPr>
          <a:xfrm>
            <a:off x="457200" y="1097280"/>
            <a:ext cx="1965960" cy="2651760"/>
          </a:xfrm>
          <a:prstGeom prst="roundRect">
            <a:avLst>
              <a:gd name="adj" fmla="val 5000"/>
            </a:avLst>
          </a:prstGeom>
          <a:solidFill>
            <a:srgbClr val="1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5" y="1197864"/>
            <a:ext cx="171907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1">
                <a:solidFill>
                  <a:srgbClr val="E07A1F"/>
                </a:solidFill>
                <a:latin typeface="Calibri"/>
              </a:rPr>
              <a:t>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" y="1655064"/>
            <a:ext cx="1719072" cy="2002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• SSH chain: bands, gap and a finite chain by matrix diagonalization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1097280"/>
            <a:ext cx="1965960" cy="2651760"/>
          </a:xfrm>
          <a:prstGeom prst="roundRect">
            <a:avLst>
              <a:gd name="adj" fmla="val 5000"/>
            </a:avLst>
          </a:prstGeom>
          <a:solidFill>
            <a:srgbClr val="1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88336" y="1197864"/>
            <a:ext cx="171907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1">
                <a:solidFill>
                  <a:srgbClr val="E07A1F"/>
                </a:solidFill>
                <a:latin typeface="Calibri"/>
              </a:rPr>
              <a:t>Finding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8336" y="1655064"/>
            <a:ext cx="1719072" cy="2002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• Gap = 2|t₁ − t₂|, closing at t₁ = t₂</a:t>
            </a:r>
          </a:p>
          <a:p>
            <a:r>
              <a:rPr sz="1150" b="0">
                <a:solidFill>
                  <a:srgbClr val="FFFFFF"/>
                </a:solidFill>
                <a:latin typeface="Calibri"/>
              </a:rPr>
              <a:t>• Agrees with the analytic result to ~10⁻¹⁵</a:t>
            </a:r>
          </a:p>
          <a:p>
            <a:r>
              <a:rPr sz="1150" b="0">
                <a:solidFill>
                  <a:srgbClr val="FFFFFF"/>
                </a:solidFill>
                <a:latin typeface="Calibri"/>
              </a:rPr>
              <a:t>• Finite-chain gap converges as 1/N</a:t>
            </a:r>
            <a:r>
              <a:rPr sz="1150" b="0" baseline="-25000">
                <a:solidFill>
                  <a:srgbClr val="FFFFFF"/>
                </a:solidFill>
                <a:latin typeface="Calibri"/>
              </a:rPr>
              <a:t>c</a:t>
            </a:r>
            <a:r>
              <a:rPr sz="1150" b="0">
                <a:solidFill>
                  <a:srgbClr val="FFFFFF"/>
                </a:solidFill>
                <a:latin typeface="Calibri"/>
              </a:rPr>
              <a:t>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1097280"/>
            <a:ext cx="1965960" cy="2651760"/>
          </a:xfrm>
          <a:prstGeom prst="roundRect">
            <a:avLst>
              <a:gd name="adj" fmla="val 5000"/>
            </a:avLst>
          </a:prstGeom>
          <a:solidFill>
            <a:srgbClr val="1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5" y="1197864"/>
            <a:ext cx="171907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1">
                <a:solidFill>
                  <a:srgbClr val="E07A1F"/>
                </a:solidFill>
                <a:latin typeface="Calibri"/>
              </a:rPr>
              <a:t>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5" y="1655064"/>
            <a:ext cx="1719072" cy="2002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• Hopping values are arbitrary units (no real polyacetylene)</a:t>
            </a:r>
          </a:p>
          <a:p>
            <a:r>
              <a:rPr sz="1150" b="0">
                <a:solidFill>
                  <a:srgbClr val="FFFFFF"/>
                </a:solidFill>
                <a:latin typeface="Calibri"/>
              </a:rPr>
              <a:t>• Small gaps need longer chains</a:t>
            </a:r>
          </a:p>
          <a:p>
            <a:r>
              <a:rPr sz="1150" b="0">
                <a:solidFill>
                  <a:srgbClr val="FFFFFF"/>
                </a:solidFill>
                <a:latin typeface="Calibri"/>
              </a:rPr>
              <a:t>• Nearest-neighbor, non-interacting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1097280"/>
            <a:ext cx="1965960" cy="2651760"/>
          </a:xfrm>
          <a:prstGeom prst="roundRect">
            <a:avLst>
              <a:gd name="adj" fmla="val 5000"/>
            </a:avLst>
          </a:prstGeom>
          <a:solidFill>
            <a:srgbClr val="1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94575" y="1197864"/>
            <a:ext cx="171907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1">
                <a:solidFill>
                  <a:srgbClr val="E07A1F"/>
                </a:solidFill>
                <a:latin typeface="Calibri"/>
              </a:rPr>
              <a:t>From the 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5" y="1655064"/>
            <a:ext cx="1719072" cy="2002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• Gap formula 2|t₁ − t₂| [1], [3]</a:t>
            </a:r>
          </a:p>
          <a:p>
            <a:r>
              <a:rPr sz="1150" b="0">
                <a:solidFill>
                  <a:srgbClr val="FFFFFF"/>
                </a:solidFill>
                <a:latin typeface="Calibri"/>
              </a:rPr>
              <a:t>• Tight-binding model [1], [2]</a:t>
            </a:r>
          </a:p>
          <a:p>
            <a:r>
              <a:rPr sz="1150" b="0">
                <a:solidFill>
                  <a:srgbClr val="FFFFFF"/>
                </a:solidFill>
                <a:latin typeface="Calibri"/>
              </a:rPr>
              <a:t>• Checked numerically in this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3913632"/>
            <a:ext cx="2450591" cy="4480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2|t₁ − t₂|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4416552"/>
            <a:ext cx="2450591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Calibri"/>
              </a:rPr>
              <a:t>band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704" y="3913632"/>
            <a:ext cx="2450591" cy="4480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~10⁻¹⁵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704" y="4416552"/>
            <a:ext cx="2450591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Calibri"/>
              </a:rPr>
              <a:t>agreement with analytic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3913632"/>
            <a:ext cx="2450591" cy="4480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1/N</a:t>
            </a:r>
            <a:r>
              <a:rPr sz="2400" b="1" baseline="-25000">
                <a:solidFill>
                  <a:srgbClr val="FFFFFF"/>
                </a:solidFill>
                <a:latin typeface="Cambria"/>
              </a:rPr>
              <a:t>c</a:t>
            </a:r>
            <a:r>
              <a:rPr sz="2400" b="1">
                <a:solidFill>
                  <a:srgbClr val="FFFFFF"/>
                </a:solidFill>
                <a:latin typeface="Cambria"/>
              </a:rPr>
              <a:t>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344" y="4416552"/>
            <a:ext cx="2450591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Calibri"/>
              </a:rPr>
              <a:t>finite-chain convergence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600" b="1">
                <a:solidFill>
                  <a:srgbClr val="0B2A3C"/>
                </a:solidFill>
                <a:latin typeface="Calibri"/>
              </a:rPr>
              <a:t>Backup: the gap formula from the references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p/>
        </p:txBody>
      </p:sp>
      <p:pic>
        <p:nvPicPr>
          <p:cNvPr id="9" name="Image 0" descr="eq_s18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34440"/>
            <a:ext cx="2926080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4754880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>
                <a:solidFill>
                  <a:srgbClr val="6B7C8A"/>
                </a:solidFill>
                <a:latin typeface="Calibri"/>
              </a:rPr>
              <a:t>Ref: [3]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234440"/>
            <a:ext cx="47914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F2D3A"/>
                </a:solidFill>
                <a:latin typeface="Cambria"/>
              </a:rPr>
              <a:t>As given in [1], [3]: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D3A"/>
                </a:solidFill>
                <a:latin typeface="Cambria"/>
              </a:rPr>
              <a:t>E±(k) = ± √(t₁² + t₂² + 2 t₁t₂ cos ka)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D3A"/>
                </a:solidFill>
                <a:latin typeface="Cambria"/>
              </a:rPr>
              <a:t>k = 0: largest, t₁ + t₂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D3A"/>
                </a:solidFill>
                <a:latin typeface="Cambria"/>
              </a:rPr>
              <a:t>k = π/a: smallest, |t₁ − t₂|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D3A"/>
                </a:solidFill>
                <a:latin typeface="Cambria"/>
              </a:rPr>
              <a:t>So the gap is 2|t₁ − t₂|, unchanged if t₁ and t₂ are swapped.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monatomic chain (reference)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7" name="Image 0" descr="../midterm-tight-binding/output/figs/fig1_monato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06240" cy="29443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937760" y="1188720"/>
            <a:ext cx="37490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E(k) = ε₀ − 2t cos ka, bandwidth 4t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k-points, 2N spin states, N electrons → half-filled → metal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Re-counting with a 2-atom cell folds the band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with t₁ = t₂ equals this chain (spectrum difference 0)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566160" y="4754880"/>
            <a:ext cx="4480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>
                <a:solidFill>
                  <a:srgbClr val="6B7C8A"/>
                </a:solidFill>
                <a:latin typeface="Calibri"/>
              </a:rPr>
              <a:t>Ref: [2]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reproducibility and 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chain · band gap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40233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Restart Kernel and Run All (~10 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project.py → output/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input/params.json holds every setting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manifest.json: SHA-256 checksum of every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requirements.txt: pinned versions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sz="1300" b="0">
                <a:solidFill>
                  <a:srgbClr val="1F2D3A"/>
                </a:solidFill>
                <a:latin typeface="Calibri"/>
              </a:rPr>
              <a:t>Claude (Anthropic) was used for the code, validation checks, README and slide design.</a:t>
            </a:r>
            <a:endParaRPr lang="en-US" sz="1300" dirty="0"/>
          </a:p>
          <a:p>
            <a:r>
              <a:rPr sz="1300" b="0">
                <a:solidFill>
                  <a:srgbClr val="1F2D3A"/>
                </a:solidFill>
                <a:latin typeface="Calibri"/>
              </a:rPr>
              <a:t>The formulas are taken from the cited references and checked numerically with the code.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508760"/>
            <a:ext cx="39319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sz="1150" b="0">
                <a:solidFill>
                  <a:srgbClr val="1F2D3A"/>
                </a:solidFill>
                <a:latin typeface="Calibri"/>
              </a:rPr>
              <a:t>[1] W. P. Su, J. R. Schrieffer, A. J. Heeger, Phys. Rev. Lett. 42, 1698 (1979)</a:t>
            </a:r>
            <a:endParaRPr lang="en-US" sz="1300" dirty="0"/>
          </a:p>
          <a:p>
            <a:r>
              <a:rPr sz="1150" b="0">
                <a:solidFill>
                  <a:srgbClr val="1F2D3A"/>
                </a:solidFill>
                <a:latin typeface="Calibri"/>
              </a:rPr>
              <a:t>[2] N. W. Ashcroft, N. D. Mermin, Solid State Physics (1976): Ch. 8, Ch. 10 (tight-binding method)</a:t>
            </a:r>
          </a:p>
          <a:p>
            <a:r>
              <a:rPr sz="1150" b="0">
                <a:solidFill>
                  <a:srgbClr val="1F2D3A"/>
                </a:solidFill>
                <a:latin typeface="Calibri"/>
              </a:rPr>
              <a:t>[3] J. K. Asbóth, L. Oroszlány, A. Pályi, A Short Course on Topological Insulators (Springer, 2016), arXiv:1509.02295, Ch. 1</a:t>
            </a:r>
          </a:p>
          <a:p>
            <a:r>
              <a:rPr sz="1150" b="0">
                <a:solidFill>
                  <a:srgbClr val="1F2D3A"/>
                </a:solidFill>
                <a:latin typeface="Calibri"/>
              </a:rPr>
              <a:t>[4] R. E. Peierls, Quantum Theory of Solids (Oxford, 1955)</a:t>
            </a:r>
          </a:p>
          <a:p>
            <a:r>
              <a:rPr sz="1150" b="0">
                <a:solidFill>
                  <a:srgbClr val="1F2D3A"/>
                </a:solidFill>
                <a:latin typeface="Calibri"/>
              </a:rPr>
              <a:t>Defined in this project: the error definitions and the 1/N</a:t>
            </a:r>
            <a:r>
              <a:rPr sz="1150" b="0" baseline="-25000">
                <a:solidFill>
                  <a:srgbClr val="1F2D3A"/>
                </a:solidFill>
                <a:latin typeface="Calibri"/>
              </a:rPr>
              <a:t>c</a:t>
            </a:r>
            <a:r>
              <a:rPr sz="1150" b="0">
                <a:solidFill>
                  <a:srgbClr val="1F2D3A"/>
                </a:solidFill>
                <a:latin typeface="Calibri"/>
              </a:rPr>
              <a:t>² estimate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 Gap of the SSH Chain</dc:title>
  <dc:subject>PHY4008 Computational Physics, midterm</dc:subject>
  <dc:creator>Hyosan Shin</dc:creator>
  <cp:lastModifiedBy>Hyosan Shin</cp:lastModifiedBy>
  <cp:revision>1</cp:revision>
  <dcterms:created xsi:type="dcterms:W3CDTF">2026-10-12T10:45:09Z</dcterms:created>
  <dcterms:modified xsi:type="dcterms:W3CDTF">2026-10-12T10:45:09Z</dcterms:modified>
</cp:coreProperties>
</file>