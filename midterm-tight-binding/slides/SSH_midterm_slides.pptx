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Band Gap of the SSH Chain
발표 시간: 10초 | 구성: question
안녕하세요, 신효산입니다. SSH 사슬의 밴드갭에 대해 발표하겠습니다. 수업에서 배운 tight-binding 계산을 직접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Motivation: from atoms to bands
발표 시간: 30초 | 구성: question
원자를 N개 이으면 준위도 N개로 갈라지고, N이 커지면 촘촘히 모여 밴드가 됩니다. 왼쪽이 그 준위입니다. 밴드 사이의 빈 구간이 갭이고, 갭이 금속과 반도체를 가릅니다. 오른쪽은 폴리아세틸렌처럼 짧은 결합과 긴 결합이 번갈아 나오는 사슬의 모식도로, 이 패턴이 갭을 엽니다. 이것을 가장 단순하게 만든 모형이 SSH 사슬입니다. 오른쪽은 개념도이고 계산 결과가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Question and quantities
발표 시간: 20초 | 구성: question
질문은 하나입니다. t2 나누기 t1에 따라 갭은 어떻게 변하고, 유한한 사슬의 수치 계산은 그 값에 얼마나 수렴하는가. 계산할 양은 밴드, 갭, 유한 사슬에서 에너지 절댓값이 가장 작은 상태입니다. 이번 범위는 밴드갭입니다.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SSH model, assumptions, boundary conditions
발표 시간: 30초 | 구성: method
모형입니다. 단위셀마다 A, B 두 원자가 있고, 굵은 선이 셀 안의 hopping t1, 가는 선이 셀 사이의 hopping t2, 점선 상자가 한 셀입니다. 이웃한 원자 사이에만 hopping이 있고 오비탈은 직교하며 원자 자체의 에너지는 없다고 둡니다. 밴드는 주기 경계, 유한 사슬은 열린 경계로 계산하고, A 원자에서 시작해 첫 결합이 t1인 규약을 씁니다. t1, t2는 임의의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Bloch Hamiltonian and the predicted gap
발표 시간: 30초 | 구성: method
에너지입니다. 각 k의 2 곱하기 2 행렬은 대각이 0이고 비대각이 t1 더하기 t2 곱하기 e의 i k a승입니다. 고유값은 이 크기의 플러스 마이너스입니다. k가 0이면 t1 더하기 t2로 가장 멀고, k가 파이 나누기 a이면 t1 빼기 t2의 절댓값으로 가장 가깝습니다. 그래서 갭은 2 곱하기 t1 빼기 t2의 절댓값일 것으로 예측되고, 이것을 수치로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Quantities computed
발표 시간: 30초 | 구성: method
계산하는 양은 세 가지입니다. 밴드, 갭, 그리고 유한 사슬에서 에너지 절댓값이 가장 작은 상태입니다. 갭은 위 밴드의 최솟값에서 아래 밴드의 최댓값을 뺀 값입니다. 오른쪽은 셀이 둘인 사슬의 행렬 모양으로, 예시이지 계산 결과가 아닙니다. 끝이 있으면 Bloch 정리를 쓸 수 없어서 이 실공간 행렬을 그대로 대각화합니다.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Numerical workflow
발표 시간: 30초 | 구성: method
수치 방법입니다. 입력은 params.json이고, 각 k에서 2 곱하기 2 행렬을, 유한 사슬은 2N 곱하기 2N 행렬을 대각화합니다. 행렬이 작아 정확하고 수렴 변수가 없어서 골랐습니다. 결과를 해석식과 비교하고 해상도를 바꿔 확인한 뒤 output에 저장합니다. 아래 코드는 의사코드입니다. 난수가 없어 다시 돌려도 같은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Result: the gap depends on t1 − t2
발표 시간: 90초 | 구성: results
핵심 결과입니다. 축, 비교 조건, 변화, 물리적 의미의 순서로 설명하겠습니다. 왼쪽 큰 그림의 가로축은 t2, 세로축은 갭이고, t1은 1로 고정했습니다. 회색 선이 식 2 곱하기 t1 빼기 t2의 절댓값, 점이 t2마다 대각화해서 잰 값이고 점이 선 위에 놓입니다. 변화는 이렇습니다. t2가 0이면 갭이 2이고, t2가 1에 가까워질수록 줄어서 t2가 t1과 같은 1일 때 정확히 0이 되며, 1을 넘으면 다시 늘어나 t2가 1.5이면 1.0, 2이면 2.0인 브이 모양입니다. 오른쪽 위 그림은 t1이 1, t2가 0.5인 사슬과 t1이 0.5, t2가 1인 사슬의 밴드입니다. 두 사슬의 밴드 모양이 같습니다. k가 0일 때 에너지가 t1 더하기 t2이고 k가 파이일 때 t1 빼기 t2의 절댓값인데, t1과 t2를 바꿔도 이 값들이 변하지 않기 때문입니다. 의미는 두 가지입니다. 갭은 t1과 t2의 차이로만 정해지고, 셀당 전자가 둘이라 아래 밴드가 정확히 가득 차므로 갭이 열려 있으면 절연체이고 닫히면 금속적입니다. 이 계산은 hopping을 임의의 단위로 둔 것이라 실제 폴리아세틸렌의 갭 값을 말하지는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Validation: analytic comparison and limits
발표 시간: 80초 | 구성: results
다음은 구현이 맞는지 확인하는 검증입니다. 왼쪽 그림의 가로축은 k, 세로축은 에너지입니다. 회색 곡선이 해석식이고 엑스 표시가 원자 스무 개를 고리로 이은 20 곱하기 20 행렬을 직접 대각화한 값인데, 엑스가 곡선 위에 놓이고 차이는 10의 마이너스 15승, 기계 정밀도입니다. 표의 나머지도 같은 방식입니다. SSH의 2 곱하기 2 대각화는 해석식과 2.2 곱하기 10의 마이너스 16승, 갭은 2 곱하기 t1 빼기 t2의 절댓값과 2.4 곱하기 10의 마이너스 16승 이내로 일치합니다. 답이 알려진 극한도 확인했습니다. t1과 t2가 같으면 같은 원자 수의 단원자 고리와 스펙트럼이 같고, t2가 0이면 이합체만 남아 모든 에너지의 절댓값이 t1이며, t1이 0이면 끝 원자 둘이 이웃과 끊어져 에너지가 정확히 0인 상태가 둘 생기고 끝 사이트의 확률이 1입니다. 이 검증은 코드가 이 모형을 맞게 푼다는 것을 보이고, 모형이 실제 물질을 맞게 나타내는지는 보이지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Numerical resolution and sampling
발표 시간: 70초 | 구성: results
수치 해상도는 세 가지를 바꿔 봤습니다. 가로축이 각각 k 격자 점 수, 고리의 원자 수, 사슬의 셀 수이고 세로축은 오차입니다. 왼쪽, k 격자 점이 짝수이면 갭이 가장 작은 k인 파이를 격자가 정확히 지나서 오차가 0이고, 홀수이면 그 점을 건너뛰어 갭을 크게 잡습니다. t1이 1, t2가 0.5이고 점이 17개이면 오차가 0.033입니다. 가운데, 고리의 원자 수가 홀수이면 밴드 꼭대기가 이론식만큼 모자랍니다. 오른쪽, 열린 사슬에서 가장 낮은 벌크 상태의 에너지가 이론값에서 벗어나는 정도가 셀 수 10, 20, 40에서 0.033, 0.010, 0.0028이고, 셀 수가 두 배가 되면 오차가 약 4분의 1로 줄어 셀 수의 제곱에 반비례합니다. 샘플링은 해당이 없습니다. 이 계산은 난수를 쓰지 않는 결정론적 계산이라 불확도는 기계 정밀도뿐입니다.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Interpretation: why the gap opens
발표 시간: 60초 | 구성: interpretation
해석입니다. t1과 t2가 같은 사슬은 원자 간격이 균일한 단원자 사슬입니다. 왼쪽 그림처럼 이것을 셀 두 개짜리로 다시 세면 브릴루앙 영역이 절반으로 줄고 밴드가 접혀서, k가 파이 나누기 a인 곳에서 두 밴드가 에너지 0으로 만납니다. 가운데 그림입니다. t1과 t2가 다르면 주기가 두 배가 되는 섭동이 이 만나는 점을 밀어 갈라 갭이 열리고, 오른쪽에서 t1이 1.2, t2가 0.8이면 갭이 0.8입니다. 균일한 사슬이 스스로 짝을 짓는 경향을 Peierls 불안정성이라고 하며 폴리아세틸렌이 반도체인 이유로 알려져 있지만, 이것은 이론에서 인용한 설명이고 제가 증명하거나 계산하지는 않았습니다. 전자 수도 중요합니다. 단원자 사슬은 원자당 전자가 하나라 밴드가 반만 차서 금속이고, 이 사슬은 셀당 전자가 둘이라 아래 밴드가 가득 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Limitations and how to check them
발표 시간: 60초 | 구성: interpretation
한계입니다. 확인하지 않은 것과 그것을 확인하는 방법을 표로 말씀드립니다. 첫째, 실제 폴리아세틸렌의 hopping 값으로는 계산하지 않았습니다. 문헌 값으로 같은 계산을 반복해 측정된 갭과 비교하면 됩니다. 둘째, 사슬 길이는 160셀까지 확인했습니다. t1이 1, t2가 0.9처럼 갭이 작은 사슬은 셀 수를 두 배로 해도 오차가 4분의 1이 아니라 2.4분의 1에서 3분의 1 수준이라 아직 점근 영역에 들어오지 못했으므로, 더 긴 사슬로 확인해야 합니다. 셋째, 갭 안 상태가 유지되는 이유는 설명하지 못했고 기말에서 다룹니다. 넷째, 2차원과 전자 사이의 상호작용은 이 모형의 범위 밖입니다. 그리고 유한 사슬이 어느 원자에서 시작하느냐에 따라 상태가 생기는 사슬이 바뀌는 규약 의존이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Preliminary observation: states inside the gap
발표 시간: 20초 | 구성: conclusion
예비 관찰입니다. 위는 유한 사슬의 에너지, 아래는 0에 가장 가까운 두 상태의 위치별 확률입니다. t1이 큰 왼쪽 사슬은 0 근처 상태가 없고, t2가 큰 오른쪽 사슬은 갭 안에 상태가 둘 있고 확률이 양 끝에 몰려 있습니다. 이유는 기말에서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Outlook: what the final project will test
발표 시간: 20초 | 구성: conclusion
기말에서는 이 상태가 무엇이고 언제 유지되는지 검증합니다. 진폭이 안쪽으로 줄어드는 모양과 사슬 길이 의존성, 무질서에 따른 변화를 평균과 표준오차로, 그리고 이를 설명하는 대칭을 계산합니다. 이것은 계획이고 새 결과가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Summary
발표 시간: 20초 | 구성: conclusion
정리하겠습니다. 갭은 2 곱하기 t1 빼기 t2의 절댓값이고 t1과 t2가 같을 때 닫힙니다. 수치는 해석식과 기계 정밀도로 일치하고 유한 사슬의 갭은 셀 수 제곱에 반비례해 수렴합니다. 예비 관찰로 갭 안 상태가 나타났고, 후속 연구에서 이유를 검증하겠습니다.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Backup: Bloch theorem and the Brillouin zone
발표 시간: 백업 | 구성: backup
질문: 왜 k를 한 구간만 보는가? 결정이 간격 a로 반복되면 고유상태는 평면파와 같은 주기의 함수의 곱이고, 한 칸 옮기면 위상 e의 i k a승만 곱해진다. k와 k 더하기 2 파이 나누기 a는 같은 상태라서 k를 마이너스 파이 나누기 a에서 파이 나누기 a 사이에서만 구별한다. 이 덕분에 각 k마다 단위셀 크기의 작은 행렬만 대각화하면 된다. 증명은 평이동 연산자가 해밀토니안과 교환한다는 데서 나온다. 끝이 있는 사슬에는 쓸 수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Backup: derivation of H(k)
발표 시간: 백업 | 구성: backup
질문: 2 곱하기 2 행렬은 어디서 나오는가? 단위셀에 원자가 둘이라 상태가 둘이다. A 원자에 이어진 B는 같은 셀의 B, 세기 t1이고, 왼쪽 셀의 B, 세기 t2이고 위상이 e의 마이너스 i k a승이다. 그래서 한 성분이 t1 더하기 t2 곱하기 e의 마이너스 i k a승이고, 에르미티안 조건으로 반대쪽 성분은 그 복소공액이 된다. 같은 종류의 원자 사이에는 hopping이 없고 온사이트 에너지를 두지 않으므로 대각은 0이다. 노트북은 비대각의 위치를 반대로 쓰는데 복소공액이라 고유값은 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Backup: eigenvalues and the gap
발표 시간: 백업 | 구성: backup
질문: 에너지를 유도해 보라. 행렬식 det(H − E)가 E 제곱 빼기 비대각 성분의 크기 제곱이므로 E는 플러스 마이너스 그 크기이다. 크기의 제곱은 t1 제곱 더하기 t2 제곱 더하기 2 t1 t2 코사인 k a이고, 코사인이 1일 때 최대인 t1 더하기 t2의 제곱, 마이너스 1일 때 최소인 t1 빼기 t2의 제곱이다. 최소는 k가 파이 나누기 a에서 나오고 갭은 그 두 배다. t1과 t2를 바꿔도 이 식이 변하지 않으므로 갭과 밴드가 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Backup: monatomic chain (reference)
발표 시간: 백업 | 구성: backup
질문: 균일한 단원자 사슬은 어떻게 되는가? 에너지는 ε0 빼기 2t 코사인 k a이고 밴드 폭은 4t이다. 브릴루앙 영역에 k가 N개, 스핀 포함 자리가 2N개인데 전자는 N개라서 밴드가 반만 차고 금속이다. 셀을 두 개로 세면 밴드가 접히는 출발점이 되고, SSH에서 t1과 t2가 같은 극한이 이 사슬과 같다는 것을 5-1에서 스펙트럼 차이 0으로 확인했다.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Backup: k-grid parity table
발표 시간: 백업 | 구성: backup
질문: k 점이 충분한가? k 격자를 2 파이 j 나누기 N_k로 만들면 N_k가 짝수일 때 j가 N_k의 절반에서 k가 정확히 파이라서 갭 오차가 0이다. 홀수이면 파이를 건너뛰고 파이에서 파이 나누기 N_k 떨어진 점의 값을 읽어 갭을 크게 잡는다. 표에서 갭이 0.1로 작은 t2 0.95는 같은 점 수에서 갭이 1인 0.5보다 오차가 훨씬 크므로, 갭이 작을수록 k 점을 더 촘촘히 잡아야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Backup: finite-chain gap convergence
발표 시간: 백업 | 구성: backup
질문: 왜 오차가 셀 수의 제곱에 반비례하는가? k가 파이에서 q만큼 떨어진 곳에서 크기는 대략 t1 빼기 t2의 절댓값 더하기 t1 t2 나누기 2 곱하기 t1 빼기 t2의 절댓값 곱하기 q 제곱이다. 열린 사슬에서 가장 낮은 q는 파이 나누기 셀 수 정도이므로 오차는 N_c 제곱에 반비례하고, t1이 1, t2가 0.5이면 계수가 4.93이다. 표에서 이 계수가 맞는 극한으로 배율이 4에 다가가는 것을 볼 수 있다. 갭이 작은 t2 0.9는 배율이 아직 2.4에서 3.5라 점근 영역 밖이다.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Backup: reproducibility and sources
발표 시간: 백업 | 구성: backup
가이드의 재현성과 AI 공개 항목에 대응한다. README에 질문, 환경, 실행법, 입력, 그림 재현, 검증과 한계, 출처와 AI 도움을 적었다. 노트북은 Restart Kernel and Run All로 약 10초에 전체가 다시 실행되고, python project.py로 같은 결과를 스크립트로 만든다. 입력은 input/params.json, 결과는 output 폴더이고 파일 해시는 manifest.json에 있다. 코드, 검증 설계, README, 발표 자료는 AI인 Claude가 작성했고, 저는 모형과 코드와 결과와 한계를 설명할 책임이 있다. 출처는 Su, Schrieffer, Heeger 1979와 Asbóth 등 2016이다.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A3C"/>
        </a:solidFill>
      </p:bgPr>
    </p:bg>
    <p:spTree>
      <p:nvGrpSpPr>
        <p:cNvPr id="1" name=""/>
        <p:cNvGrpSpPr/>
        <p:nvPr/>
      </p:nvGrpSpPr>
      <p:grpSpPr>
        <a:xfrm>
          <a:off x="0" y="0"/>
          <a:ext cx="0" cy="0"/>
          <a:chOff x="0" y="0"/>
          <a:chExt cx="0" cy="0"/>
        </a:xfrm>
      </p:grpSpPr>
      <p:sp>
        <p:nvSpPr>
          <p:cNvPr id="3" name="Text 0"/>
          <p:cNvSpPr txBox="1"/>
          <p:nvPr/>
        </p:nvSpPr>
        <p:spPr>
          <a:xfrm>
            <a:off x="640080" y="1097280"/>
            <a:ext cx="7863840" cy="822960"/>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Band Gap of the SSH Chain</a:t>
            </a:r>
            <a:endParaRPr lang="en-US" sz="4200" dirty="0"/>
          </a:p>
        </p:txBody>
      </p:sp>
      <p:sp>
        <p:nvSpPr>
          <p:cNvPr id="4" name="Text 1"/>
          <p:cNvSpPr txBox="1"/>
          <p:nvPr/>
        </p:nvSpPr>
        <p:spPr>
          <a:xfrm>
            <a:off x="640080" y="2011680"/>
            <a:ext cx="7680960" cy="64008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Tight-binding calculation: dependence on t₂/t₁ and convergence of a finite chain</a:t>
            </a:r>
            <a:endParaRPr lang="en-US" sz="1800" dirty="0"/>
          </a:p>
        </p:txBody>
      </p:sp>
      <p:sp>
        <p:nvSpPr>
          <p:cNvPr id="5" name="Shape 2"/>
          <p:cNvSpPr/>
          <p:nvPr/>
        </p:nvSpPr>
        <p:spPr>
          <a:xfrm>
            <a:off x="1005840" y="3429000"/>
            <a:ext cx="566928" cy="0"/>
          </a:xfrm>
          <a:prstGeom prst="line">
            <a:avLst/>
          </a:prstGeom>
          <a:noFill/>
          <a:ln w="63500">
            <a:solidFill>
              <a:srgbClr val="FFFFFF"/>
            </a:solidFill>
            <a:prstDash val="solid"/>
          </a:ln>
        </p:spPr>
      </p:sp>
      <p:sp>
        <p:nvSpPr>
          <p:cNvPr id="6" name="Shape 3"/>
          <p:cNvSpPr/>
          <p:nvPr/>
        </p:nvSpPr>
        <p:spPr>
          <a:xfrm>
            <a:off x="1572768" y="3429000"/>
            <a:ext cx="960120" cy="0"/>
          </a:xfrm>
          <a:prstGeom prst="line">
            <a:avLst/>
          </a:prstGeom>
          <a:noFill/>
          <a:ln w="19050">
            <a:solidFill>
              <a:srgbClr val="FFFFFF"/>
            </a:solidFill>
            <a:prstDash val="solid"/>
          </a:ln>
        </p:spPr>
      </p:sp>
      <p:sp>
        <p:nvSpPr>
          <p:cNvPr id="7" name="Shape 4"/>
          <p:cNvSpPr/>
          <p:nvPr/>
        </p:nvSpPr>
        <p:spPr>
          <a:xfrm>
            <a:off x="2532888" y="3429000"/>
            <a:ext cx="566928" cy="0"/>
          </a:xfrm>
          <a:prstGeom prst="line">
            <a:avLst/>
          </a:prstGeom>
          <a:noFill/>
          <a:ln w="63500">
            <a:solidFill>
              <a:srgbClr val="FFFFFF"/>
            </a:solidFill>
            <a:prstDash val="solid"/>
          </a:ln>
        </p:spPr>
      </p:sp>
      <p:sp>
        <p:nvSpPr>
          <p:cNvPr id="8" name="Shape 5"/>
          <p:cNvSpPr/>
          <p:nvPr/>
        </p:nvSpPr>
        <p:spPr>
          <a:xfrm>
            <a:off x="3099816" y="3429000"/>
            <a:ext cx="960120" cy="0"/>
          </a:xfrm>
          <a:prstGeom prst="line">
            <a:avLst/>
          </a:prstGeom>
          <a:noFill/>
          <a:ln w="19050">
            <a:solidFill>
              <a:srgbClr val="FFFFFF"/>
            </a:solidFill>
            <a:prstDash val="solid"/>
          </a:ln>
        </p:spPr>
      </p:sp>
      <p:sp>
        <p:nvSpPr>
          <p:cNvPr id="9" name="Shape 6"/>
          <p:cNvSpPr/>
          <p:nvPr/>
        </p:nvSpPr>
        <p:spPr>
          <a:xfrm>
            <a:off x="4059936" y="3429000"/>
            <a:ext cx="566928" cy="0"/>
          </a:xfrm>
          <a:prstGeom prst="line">
            <a:avLst/>
          </a:prstGeom>
          <a:noFill/>
          <a:ln w="63500">
            <a:solidFill>
              <a:srgbClr val="FFFFFF"/>
            </a:solidFill>
            <a:prstDash val="solid"/>
          </a:ln>
        </p:spPr>
      </p:sp>
      <p:sp>
        <p:nvSpPr>
          <p:cNvPr id="10" name="Shape 7"/>
          <p:cNvSpPr/>
          <p:nvPr/>
        </p:nvSpPr>
        <p:spPr>
          <a:xfrm>
            <a:off x="4626864" y="3429000"/>
            <a:ext cx="960120" cy="0"/>
          </a:xfrm>
          <a:prstGeom prst="line">
            <a:avLst/>
          </a:prstGeom>
          <a:noFill/>
          <a:ln w="19050">
            <a:solidFill>
              <a:srgbClr val="FFFFFF"/>
            </a:solidFill>
            <a:prstDash val="solid"/>
          </a:ln>
        </p:spPr>
      </p:sp>
      <p:sp>
        <p:nvSpPr>
          <p:cNvPr id="11" name="Shape 8"/>
          <p:cNvSpPr/>
          <p:nvPr/>
        </p:nvSpPr>
        <p:spPr>
          <a:xfrm>
            <a:off x="5586984" y="3429000"/>
            <a:ext cx="566928" cy="0"/>
          </a:xfrm>
          <a:prstGeom prst="line">
            <a:avLst/>
          </a:prstGeom>
          <a:noFill/>
          <a:ln w="63500">
            <a:solidFill>
              <a:srgbClr val="FFFFFF"/>
            </a:solidFill>
            <a:prstDash val="solid"/>
          </a:ln>
        </p:spPr>
      </p:sp>
      <p:sp>
        <p:nvSpPr>
          <p:cNvPr id="12" name="Shape 9"/>
          <p:cNvSpPr/>
          <p:nvPr/>
        </p:nvSpPr>
        <p:spPr>
          <a:xfrm>
            <a:off x="6153912" y="3429000"/>
            <a:ext cx="960120" cy="0"/>
          </a:xfrm>
          <a:prstGeom prst="line">
            <a:avLst/>
          </a:prstGeom>
          <a:noFill/>
          <a:ln w="19050">
            <a:solidFill>
              <a:srgbClr val="FFFFFF"/>
            </a:solidFill>
            <a:prstDash val="solid"/>
          </a:ln>
        </p:spPr>
      </p:sp>
      <p:sp>
        <p:nvSpPr>
          <p:cNvPr id="13" name="Shape 10"/>
          <p:cNvSpPr/>
          <p:nvPr/>
        </p:nvSpPr>
        <p:spPr>
          <a:xfrm>
            <a:off x="640080" y="3246120"/>
            <a:ext cx="365760" cy="365760"/>
          </a:xfrm>
          <a:prstGeom prst="ellipse">
            <a:avLst/>
          </a:prstGeom>
          <a:solidFill>
            <a:srgbClr val="1C7293"/>
          </a:solidFill>
          <a:ln w="19050">
            <a:solidFill>
              <a:srgbClr val="FFFFFF"/>
            </a:solidFill>
            <a:prstDash val="solid"/>
          </a:ln>
        </p:spPr>
      </p:sp>
      <p:sp>
        <p:nvSpPr>
          <p:cNvPr id="14" name="Shape 11"/>
          <p:cNvSpPr/>
          <p:nvPr/>
        </p:nvSpPr>
        <p:spPr>
          <a:xfrm>
            <a:off x="1207008" y="3246120"/>
            <a:ext cx="365760" cy="365760"/>
          </a:xfrm>
          <a:prstGeom prst="ellipse">
            <a:avLst/>
          </a:prstGeom>
          <a:solidFill>
            <a:srgbClr val="E07A1F"/>
          </a:solidFill>
          <a:ln w="19050">
            <a:solidFill>
              <a:srgbClr val="FFFFFF"/>
            </a:solidFill>
            <a:prstDash val="solid"/>
          </a:ln>
        </p:spPr>
      </p:sp>
      <p:sp>
        <p:nvSpPr>
          <p:cNvPr id="15" name="Shape 12"/>
          <p:cNvSpPr/>
          <p:nvPr/>
        </p:nvSpPr>
        <p:spPr>
          <a:xfrm>
            <a:off x="2167128" y="3246120"/>
            <a:ext cx="365760" cy="365760"/>
          </a:xfrm>
          <a:prstGeom prst="ellipse">
            <a:avLst/>
          </a:prstGeom>
          <a:solidFill>
            <a:srgbClr val="1C7293"/>
          </a:solidFill>
          <a:ln w="19050">
            <a:solidFill>
              <a:srgbClr val="FFFFFF"/>
            </a:solidFill>
            <a:prstDash val="solid"/>
          </a:ln>
        </p:spPr>
      </p:sp>
      <p:sp>
        <p:nvSpPr>
          <p:cNvPr id="16" name="Shape 13"/>
          <p:cNvSpPr/>
          <p:nvPr/>
        </p:nvSpPr>
        <p:spPr>
          <a:xfrm>
            <a:off x="2734056" y="3246120"/>
            <a:ext cx="365760" cy="365760"/>
          </a:xfrm>
          <a:prstGeom prst="ellipse">
            <a:avLst/>
          </a:prstGeom>
          <a:solidFill>
            <a:srgbClr val="E07A1F"/>
          </a:solidFill>
          <a:ln w="19050">
            <a:solidFill>
              <a:srgbClr val="FFFFFF"/>
            </a:solidFill>
            <a:prstDash val="solid"/>
          </a:ln>
        </p:spPr>
      </p:sp>
      <p:sp>
        <p:nvSpPr>
          <p:cNvPr id="17" name="Shape 14"/>
          <p:cNvSpPr/>
          <p:nvPr/>
        </p:nvSpPr>
        <p:spPr>
          <a:xfrm>
            <a:off x="3694176" y="3246120"/>
            <a:ext cx="365760" cy="365760"/>
          </a:xfrm>
          <a:prstGeom prst="ellipse">
            <a:avLst/>
          </a:prstGeom>
          <a:solidFill>
            <a:srgbClr val="1C7293"/>
          </a:solidFill>
          <a:ln w="19050">
            <a:solidFill>
              <a:srgbClr val="FFFFFF"/>
            </a:solidFill>
            <a:prstDash val="solid"/>
          </a:ln>
        </p:spPr>
      </p:sp>
      <p:sp>
        <p:nvSpPr>
          <p:cNvPr id="18" name="Shape 15"/>
          <p:cNvSpPr/>
          <p:nvPr/>
        </p:nvSpPr>
        <p:spPr>
          <a:xfrm>
            <a:off x="4261104" y="3246120"/>
            <a:ext cx="365760" cy="365760"/>
          </a:xfrm>
          <a:prstGeom prst="ellipse">
            <a:avLst/>
          </a:prstGeom>
          <a:solidFill>
            <a:srgbClr val="E07A1F"/>
          </a:solidFill>
          <a:ln w="19050">
            <a:solidFill>
              <a:srgbClr val="FFFFFF"/>
            </a:solidFill>
            <a:prstDash val="solid"/>
          </a:ln>
        </p:spPr>
      </p:sp>
      <p:sp>
        <p:nvSpPr>
          <p:cNvPr id="19" name="Shape 16"/>
          <p:cNvSpPr/>
          <p:nvPr/>
        </p:nvSpPr>
        <p:spPr>
          <a:xfrm>
            <a:off x="5221224" y="3246120"/>
            <a:ext cx="365760" cy="365760"/>
          </a:xfrm>
          <a:prstGeom prst="ellipse">
            <a:avLst/>
          </a:prstGeom>
          <a:solidFill>
            <a:srgbClr val="1C7293"/>
          </a:solidFill>
          <a:ln w="19050">
            <a:solidFill>
              <a:srgbClr val="FFFFFF"/>
            </a:solidFill>
            <a:prstDash val="solid"/>
          </a:ln>
        </p:spPr>
      </p:sp>
      <p:sp>
        <p:nvSpPr>
          <p:cNvPr id="20" name="Shape 17"/>
          <p:cNvSpPr/>
          <p:nvPr/>
        </p:nvSpPr>
        <p:spPr>
          <a:xfrm>
            <a:off x="5788152" y="3246120"/>
            <a:ext cx="365760" cy="365760"/>
          </a:xfrm>
          <a:prstGeom prst="ellipse">
            <a:avLst/>
          </a:prstGeom>
          <a:solidFill>
            <a:srgbClr val="E07A1F"/>
          </a:solidFill>
          <a:ln w="19050">
            <a:solidFill>
              <a:srgbClr val="FFFFFF"/>
            </a:solidFill>
            <a:prstDash val="solid"/>
          </a:ln>
        </p:spPr>
      </p:sp>
      <p:sp>
        <p:nvSpPr>
          <p:cNvPr id="21" name="Shape 18"/>
          <p:cNvSpPr/>
          <p:nvPr/>
        </p:nvSpPr>
        <p:spPr>
          <a:xfrm>
            <a:off x="6748272" y="3246120"/>
            <a:ext cx="365760" cy="365760"/>
          </a:xfrm>
          <a:prstGeom prst="ellipse">
            <a:avLst/>
          </a:prstGeom>
          <a:solidFill>
            <a:srgbClr val="1C7293"/>
          </a:solidFill>
          <a:ln w="19050">
            <a:solidFill>
              <a:srgbClr val="FFFFFF"/>
            </a:solidFill>
            <a:prstDash val="solid"/>
          </a:ln>
        </p:spPr>
      </p:sp>
      <p:sp>
        <p:nvSpPr>
          <p:cNvPr id="22" name="Text 19"/>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Hyosan Shin · PHY4008 Computational Physics · Midterm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Motivation: from atoms to bands</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1C7293"/>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143000"/>
            <a:ext cx="4114800" cy="3291840"/>
          </a:xfrm>
          <a:prstGeom prst="roundRect">
            <a:avLst>
              <a:gd name="adj" fmla="val 2222"/>
            </a:avLst>
          </a:prstGeom>
          <a:solidFill>
            <a:srgbClr val="FFFFFF"/>
          </a:solidFill>
          <a:ln w="12700">
            <a:solidFill>
              <a:srgbClr val="FFFFFF"/>
            </a:solidFill>
            <a:prstDash val="solid"/>
          </a:ln>
        </p:spPr>
      </p:sp>
      <p:pic>
        <p:nvPicPr>
          <p:cNvPr id="8" name="Image 0" descr="fig_levels_N.png">    </p:cNvPr>
          <p:cNvPicPr>
            <a:picLocks noChangeAspect="1"/>
          </p:cNvPicPr>
          <p:nvPr/>
        </p:nvPicPr>
        <p:blipFill>
          <a:blip r:embed="rId1"/>
          <a:stretch>
            <a:fillRect/>
          </a:stretch>
        </p:blipFill>
        <p:spPr>
          <a:xfrm>
            <a:off x="457200" y="1188720"/>
            <a:ext cx="4023360" cy="3063240"/>
          </a:xfrm>
          <a:prstGeom prst="rect">
            <a:avLst/>
          </a:prstGeom>
        </p:spPr>
      </p:pic>
      <p:pic>
        <p:nvPicPr>
          <p:cNvPr id="9" name="Image 1" descr="fig_dimerization.png">    </p:cNvPr>
          <p:cNvPicPr>
            <a:picLocks noChangeAspect="1"/>
          </p:cNvPicPr>
          <p:nvPr/>
        </p:nvPicPr>
        <p:blipFill>
          <a:blip r:embed="rId2"/>
          <a:stretch>
            <a:fillRect/>
          </a:stretch>
        </p:blipFill>
        <p:spPr>
          <a:xfrm>
            <a:off x="4754880" y="1188720"/>
            <a:ext cx="3931920" cy="2048256"/>
          </a:xfrm>
          <a:prstGeom prst="rect">
            <a:avLst/>
          </a:prstGeom>
        </p:spPr>
      </p:pic>
      <p:sp>
        <p:nvSpPr>
          <p:cNvPr id="10" name="Text 5"/>
          <p:cNvSpPr txBox="1"/>
          <p:nvPr/>
        </p:nvSpPr>
        <p:spPr>
          <a:xfrm>
            <a:off x="4754880" y="3337560"/>
            <a:ext cx="3931920" cy="1097280"/>
          </a:xfrm>
          <a:prstGeom prst="rect">
            <a:avLst/>
          </a:prstGeom>
          <a:noFill/>
          <a:ln/>
        </p:spPr>
        <p:txBody>
          <a:bodyPr wrap="square" lIns="508" tIns="508" rIns="508" bIns="508" rtlCol="0" anchor="t"/>
          <a:lstStyle/>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N atoms → N levels → a band</a:t>
            </a:r>
            <a:endParaRPr lang="en-US" sz="1400" dirty="0"/>
          </a:p>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The gap separates metals from semiconductors</a:t>
            </a:r>
            <a:endParaRPr lang="en-US" sz="1400" dirty="0"/>
          </a:p>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Alternating bonds can open a gap (polyacetylene)</a:t>
            </a:r>
            <a:endParaRPr lang="en-US" sz="1400" dirty="0"/>
          </a:p>
        </p:txBody>
      </p:sp>
      <p:sp>
        <p:nvSpPr>
          <p:cNvPr id="11" name="Text 6"/>
          <p:cNvSpPr txBox="1"/>
          <p:nvPr/>
        </p:nvSpPr>
        <p:spPr>
          <a:xfrm>
            <a:off x="4754880" y="4434840"/>
            <a:ext cx="3931920" cy="274320"/>
          </a:xfrm>
          <a:prstGeom prst="rect">
            <a:avLst/>
          </a:prstGeom>
          <a:noFill/>
          <a:ln/>
        </p:spPr>
        <p:txBody>
          <a:bodyPr wrap="square" lIns="508" tIns="508" rIns="508" bIns="508" rtlCol="0" anchor="t"/>
          <a:lstStyle/>
          <a:p>
            <a:pPr indent="0" marL="0">
              <a:buNone/>
            </a:pPr>
            <a:r>
              <a:rPr lang="en-US" sz="1000" dirty="0">
                <a:solidFill>
                  <a:srgbClr val="6B7C8A"/>
                </a:solidFill>
                <a:latin typeface="Calibri" pitchFamily="34" charset="0"/>
                <a:ea typeface="Calibri" pitchFamily="34" charset="-122"/>
                <a:cs typeface="Calibri" pitchFamily="34" charset="-120"/>
              </a:rPr>
              <a:t>Right: schematic, not a calculation result.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Question and quantities</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1C7293"/>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188720"/>
            <a:ext cx="8229600" cy="1143000"/>
          </a:xfrm>
          <a:prstGeom prst="roundRect">
            <a:avLst>
              <a:gd name="adj" fmla="val 6400"/>
            </a:avLst>
          </a:prstGeom>
          <a:solidFill>
            <a:srgbClr val="EAF2F6"/>
          </a:solidFill>
          <a:ln w="12700">
            <a:solidFill>
              <a:srgbClr val="EAF2F6"/>
            </a:solidFill>
            <a:prstDash val="solid"/>
          </a:ln>
        </p:spPr>
      </p:sp>
      <p:sp>
        <p:nvSpPr>
          <p:cNvPr id="8" name="Text 5"/>
          <p:cNvSpPr txBox="1"/>
          <p:nvPr/>
        </p:nvSpPr>
        <p:spPr>
          <a:xfrm>
            <a:off x="640080" y="1234440"/>
            <a:ext cx="7863840" cy="1051560"/>
          </a:xfrm>
          <a:prstGeom prst="rect">
            <a:avLst/>
          </a:prstGeom>
          <a:noFill/>
          <a:ln/>
        </p:spPr>
        <p:txBody>
          <a:bodyPr wrap="square" lIns="508" tIns="508" rIns="508" bIns="508"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How does the band gap change with t₂/t₁, and how well does a finite-chain calculation converge to it?</a:t>
            </a:r>
            <a:endParaRPr lang="en-US" sz="2200" dirty="0"/>
          </a:p>
        </p:txBody>
      </p:sp>
      <p:sp>
        <p:nvSpPr>
          <p:cNvPr id="9" name="Shape 6"/>
          <p:cNvSpPr/>
          <p:nvPr/>
        </p:nvSpPr>
        <p:spPr>
          <a:xfrm>
            <a:off x="457200" y="2606040"/>
            <a:ext cx="2560320" cy="1554480"/>
          </a:xfrm>
          <a:prstGeom prst="roundRect">
            <a:avLst>
              <a:gd name="adj" fmla="val 4706"/>
            </a:avLst>
          </a:prstGeom>
          <a:solidFill>
            <a:srgbClr val="FFFFFF"/>
          </a:solidFill>
          <a:ln w="12700">
            <a:solidFill>
              <a:srgbClr val="FFFFFF"/>
            </a:solidFill>
            <a:prstDash val="solid"/>
          </a:ln>
        </p:spPr>
      </p:sp>
      <p:sp>
        <p:nvSpPr>
          <p:cNvPr id="10" name="Shape 7"/>
          <p:cNvSpPr/>
          <p:nvPr/>
        </p:nvSpPr>
        <p:spPr>
          <a:xfrm>
            <a:off x="457200" y="2606040"/>
            <a:ext cx="2560320" cy="1554480"/>
          </a:xfrm>
          <a:prstGeom prst="roundRect">
            <a:avLst>
              <a:gd name="adj" fmla="val 4706"/>
            </a:avLst>
          </a:prstGeom>
          <a:solidFill>
            <a:srgbClr val="FFFFFF"/>
          </a:solidFill>
          <a:ln w="12700">
            <a:solidFill>
              <a:srgbClr val="CADCFC"/>
            </a:solidFill>
            <a:prstDash val="solid"/>
          </a:ln>
        </p:spPr>
      </p:sp>
      <p:sp>
        <p:nvSpPr>
          <p:cNvPr id="11" name="Text 8"/>
          <p:cNvSpPr txBox="1"/>
          <p:nvPr/>
        </p:nvSpPr>
        <p:spPr>
          <a:xfrm>
            <a:off x="640080" y="274320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9"/>
          <p:cNvSpPr txBox="1"/>
          <p:nvPr/>
        </p:nvSpPr>
        <p:spPr>
          <a:xfrm>
            <a:off x="1097280" y="2743200"/>
            <a:ext cx="1828800" cy="365760"/>
          </a:xfrm>
          <a:prstGeom prst="rect">
            <a:avLst/>
          </a:prstGeom>
          <a:noFill/>
          <a:ln/>
        </p:spPr>
        <p:txBody>
          <a:bodyPr wrap="square" lIns="508" tIns="508" rIns="508" bIns="508"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Bands</a:t>
            </a:r>
            <a:endParaRPr lang="en-US" sz="1800" dirty="0"/>
          </a:p>
        </p:txBody>
      </p:sp>
      <p:sp>
        <p:nvSpPr>
          <p:cNvPr id="13" name="Text 10"/>
          <p:cNvSpPr txBox="1"/>
          <p:nvPr/>
        </p:nvSpPr>
        <p:spPr>
          <a:xfrm>
            <a:off x="640080" y="3246120"/>
            <a:ext cx="2194560" cy="82296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E±(k) from a 2×2 matrix at every k</a:t>
            </a:r>
            <a:endParaRPr lang="en-US" sz="1400" dirty="0"/>
          </a:p>
        </p:txBody>
      </p:sp>
      <p:sp>
        <p:nvSpPr>
          <p:cNvPr id="14" name="Shape 11"/>
          <p:cNvSpPr/>
          <p:nvPr/>
        </p:nvSpPr>
        <p:spPr>
          <a:xfrm>
            <a:off x="3291840" y="2606040"/>
            <a:ext cx="2560320" cy="1554480"/>
          </a:xfrm>
          <a:prstGeom prst="roundRect">
            <a:avLst>
              <a:gd name="adj" fmla="val 4706"/>
            </a:avLst>
          </a:prstGeom>
          <a:solidFill>
            <a:srgbClr val="FFFFFF"/>
          </a:solidFill>
          <a:ln w="12700">
            <a:solidFill>
              <a:srgbClr val="FFFFFF"/>
            </a:solidFill>
            <a:prstDash val="solid"/>
          </a:ln>
        </p:spPr>
      </p:sp>
      <p:sp>
        <p:nvSpPr>
          <p:cNvPr id="15" name="Shape 12"/>
          <p:cNvSpPr/>
          <p:nvPr/>
        </p:nvSpPr>
        <p:spPr>
          <a:xfrm>
            <a:off x="3291840" y="2606040"/>
            <a:ext cx="2560320" cy="1554480"/>
          </a:xfrm>
          <a:prstGeom prst="roundRect">
            <a:avLst>
              <a:gd name="adj" fmla="val 4706"/>
            </a:avLst>
          </a:prstGeom>
          <a:solidFill>
            <a:srgbClr val="FFFFFF"/>
          </a:solidFill>
          <a:ln w="12700">
            <a:solidFill>
              <a:srgbClr val="CADCFC"/>
            </a:solidFill>
            <a:prstDash val="solid"/>
          </a:ln>
        </p:spPr>
      </p:sp>
      <p:sp>
        <p:nvSpPr>
          <p:cNvPr id="16" name="Text 13"/>
          <p:cNvSpPr txBox="1"/>
          <p:nvPr/>
        </p:nvSpPr>
        <p:spPr>
          <a:xfrm>
            <a:off x="3474720" y="274320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txBox="1"/>
          <p:nvPr/>
        </p:nvSpPr>
        <p:spPr>
          <a:xfrm>
            <a:off x="3931920" y="2743200"/>
            <a:ext cx="1828800" cy="365760"/>
          </a:xfrm>
          <a:prstGeom prst="rect">
            <a:avLst/>
          </a:prstGeom>
          <a:noFill/>
          <a:ln/>
        </p:spPr>
        <p:txBody>
          <a:bodyPr wrap="square" lIns="508" tIns="508" rIns="508" bIns="508"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Gap</a:t>
            </a:r>
            <a:endParaRPr lang="en-US" sz="1800" dirty="0"/>
          </a:p>
        </p:txBody>
      </p:sp>
      <p:sp>
        <p:nvSpPr>
          <p:cNvPr id="18" name="Text 15"/>
          <p:cNvSpPr txBox="1"/>
          <p:nvPr/>
        </p:nvSpPr>
        <p:spPr>
          <a:xfrm>
            <a:off x="3474720" y="3246120"/>
            <a:ext cx="2194560" cy="82296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min E₊ − max E₋ over all k</a:t>
            </a:r>
            <a:endParaRPr lang="en-US" sz="1400" dirty="0"/>
          </a:p>
        </p:txBody>
      </p:sp>
      <p:sp>
        <p:nvSpPr>
          <p:cNvPr id="19" name="Shape 16"/>
          <p:cNvSpPr/>
          <p:nvPr/>
        </p:nvSpPr>
        <p:spPr>
          <a:xfrm>
            <a:off x="6126480" y="2606040"/>
            <a:ext cx="2560320" cy="1554480"/>
          </a:xfrm>
          <a:prstGeom prst="roundRect">
            <a:avLst>
              <a:gd name="adj" fmla="val 4706"/>
            </a:avLst>
          </a:prstGeom>
          <a:solidFill>
            <a:srgbClr val="FFFFFF"/>
          </a:solidFill>
          <a:ln w="12700">
            <a:solidFill>
              <a:srgbClr val="FFFFFF"/>
            </a:solidFill>
            <a:prstDash val="solid"/>
          </a:ln>
        </p:spPr>
      </p:sp>
      <p:sp>
        <p:nvSpPr>
          <p:cNvPr id="20" name="Shape 17"/>
          <p:cNvSpPr/>
          <p:nvPr/>
        </p:nvSpPr>
        <p:spPr>
          <a:xfrm>
            <a:off x="6126480" y="2606040"/>
            <a:ext cx="2560320" cy="1554480"/>
          </a:xfrm>
          <a:prstGeom prst="roundRect">
            <a:avLst>
              <a:gd name="adj" fmla="val 4706"/>
            </a:avLst>
          </a:prstGeom>
          <a:solidFill>
            <a:srgbClr val="FFFFFF"/>
          </a:solidFill>
          <a:ln w="12700">
            <a:solidFill>
              <a:srgbClr val="CADCFC"/>
            </a:solidFill>
            <a:prstDash val="solid"/>
          </a:ln>
        </p:spPr>
      </p:sp>
      <p:sp>
        <p:nvSpPr>
          <p:cNvPr id="21" name="Text 18"/>
          <p:cNvSpPr txBox="1"/>
          <p:nvPr/>
        </p:nvSpPr>
        <p:spPr>
          <a:xfrm>
            <a:off x="6309360" y="274320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19"/>
          <p:cNvSpPr txBox="1"/>
          <p:nvPr/>
        </p:nvSpPr>
        <p:spPr>
          <a:xfrm>
            <a:off x="6766560" y="2743200"/>
            <a:ext cx="1828800" cy="365760"/>
          </a:xfrm>
          <a:prstGeom prst="rect">
            <a:avLst/>
          </a:prstGeom>
          <a:noFill/>
          <a:ln/>
        </p:spPr>
        <p:txBody>
          <a:bodyPr wrap="square" lIns="508" tIns="508" rIns="508" bIns="508" rtlCol="0" anchor="ctr"/>
          <a:lstStyle/>
          <a:p>
            <a:pPr indent="0" marL="0">
              <a:buNone/>
            </a:pPr>
            <a:r>
              <a:rPr lang="en-US" sz="1800" b="1" dirty="0">
                <a:solidFill>
                  <a:srgbClr val="0B2A3C"/>
                </a:solidFill>
                <a:latin typeface="Calibri" pitchFamily="34" charset="0"/>
                <a:ea typeface="Calibri" pitchFamily="34" charset="-122"/>
                <a:cs typeface="Calibri" pitchFamily="34" charset="-120"/>
              </a:rPr>
              <a:t>Finite chain</a:t>
            </a:r>
            <a:endParaRPr lang="en-US" sz="1800" dirty="0"/>
          </a:p>
        </p:txBody>
      </p:sp>
      <p:sp>
        <p:nvSpPr>
          <p:cNvPr id="23" name="Text 20"/>
          <p:cNvSpPr txBox="1"/>
          <p:nvPr/>
        </p:nvSpPr>
        <p:spPr>
          <a:xfrm>
            <a:off x="6309360" y="3246120"/>
            <a:ext cx="2194560" cy="82296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smallest |E| of an open chain (2N×2N matrix)</a:t>
            </a:r>
            <a:endParaRPr lang="en-US" sz="1400" dirty="0"/>
          </a:p>
        </p:txBody>
      </p:sp>
      <p:sp>
        <p:nvSpPr>
          <p:cNvPr id="24" name="Text 21"/>
          <p:cNvSpPr txBox="1"/>
          <p:nvPr/>
        </p:nvSpPr>
        <p:spPr>
          <a:xfrm>
            <a:off x="457200" y="4343400"/>
            <a:ext cx="8229600" cy="320040"/>
          </a:xfrm>
          <a:prstGeom prst="rect">
            <a:avLst/>
          </a:prstGeom>
          <a:noFill/>
          <a:ln/>
        </p:spPr>
        <p:txBody>
          <a:bodyPr wrap="square" lIns="508" tIns="508" rIns="508" bIns="508" rtlCol="0" anchor="t"/>
          <a:lstStyle/>
          <a:p>
            <a:pPr indent="0" marL="0">
              <a:buNone/>
            </a:pPr>
            <a:r>
              <a:rPr lang="en-US" sz="1200" dirty="0">
                <a:solidFill>
                  <a:srgbClr val="6B7C8A"/>
                </a:solidFill>
                <a:latin typeface="Calibri" pitchFamily="34" charset="0"/>
                <a:ea typeface="Calibri" pitchFamily="34" charset="-122"/>
                <a:cs typeface="Calibri" pitchFamily="34" charset="-120"/>
              </a:rPr>
              <a:t>Scope: band gap. States inside the gap appear only as a preliminary observation.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SSH model, assumptions, boundary conditions</a:t>
            </a:r>
            <a:endParaRPr lang="en-US" sz="2200" dirty="0"/>
          </a:p>
        </p:txBody>
      </p:sp>
      <p:sp>
        <p:nvSpPr>
          <p:cNvPr id="3" name="Text 1"/>
          <p:cNvSpPr txBox="1"/>
          <p:nvPr/>
        </p:nvSpPr>
        <p:spPr>
          <a:xfrm>
            <a:off x="7406640" y="384048"/>
            <a:ext cx="1280160" cy="274320"/>
          </a:xfrm>
          <a:prstGeom prst="roundRect">
            <a:avLst>
              <a:gd name="adj" fmla="val 50000"/>
            </a:avLst>
          </a:prstGeom>
          <a:solidFill>
            <a:srgbClr val="3E5C76"/>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4</a:t>
            </a:r>
            <a:endParaRPr lang="en-US" sz="900" dirty="0"/>
          </a:p>
        </p:txBody>
      </p:sp>
      <p:pic>
        <p:nvPicPr>
          <p:cNvPr id="7" name="Image 0" descr="fig_ssh_chain.png">    </p:cNvPr>
          <p:cNvPicPr>
            <a:picLocks noChangeAspect="1"/>
          </p:cNvPicPr>
          <p:nvPr/>
        </p:nvPicPr>
        <p:blipFill>
          <a:blip r:embed="rId1"/>
          <a:stretch>
            <a:fillRect/>
          </a:stretch>
        </p:blipFill>
        <p:spPr>
          <a:xfrm>
            <a:off x="457200" y="1051560"/>
            <a:ext cx="8229600" cy="1828800"/>
          </a:xfrm>
          <a:prstGeom prst="rect">
            <a:avLst/>
          </a:prstGeom>
        </p:spPr>
      </p:pic>
      <p:sp>
        <p:nvSpPr>
          <p:cNvPr id="8" name="Shape 4"/>
          <p:cNvSpPr/>
          <p:nvPr/>
        </p:nvSpPr>
        <p:spPr>
          <a:xfrm>
            <a:off x="457200" y="3063240"/>
            <a:ext cx="2560320" cy="1600200"/>
          </a:xfrm>
          <a:prstGeom prst="roundRect">
            <a:avLst>
              <a:gd name="adj" fmla="val 4571"/>
            </a:avLst>
          </a:prstGeom>
          <a:solidFill>
            <a:srgbClr val="EAF2F6"/>
          </a:solidFill>
          <a:ln w="12700">
            <a:solidFill>
              <a:srgbClr val="EAF2F6"/>
            </a:solidFill>
            <a:prstDash val="solid"/>
          </a:ln>
        </p:spPr>
      </p:sp>
      <p:sp>
        <p:nvSpPr>
          <p:cNvPr id="9" name="Text 5"/>
          <p:cNvSpPr txBox="1"/>
          <p:nvPr/>
        </p:nvSpPr>
        <p:spPr>
          <a:xfrm>
            <a:off x="594360" y="3127248"/>
            <a:ext cx="2286000" cy="320040"/>
          </a:xfrm>
          <a:prstGeom prst="rect">
            <a:avLst/>
          </a:prstGeom>
          <a:noFill/>
          <a:ln/>
        </p:spPr>
        <p:txBody>
          <a:bodyPr wrap="square" lIns="508" tIns="508" rIns="508" bIns="508" rtlCol="0" anchor="t"/>
          <a:lstStyle/>
          <a:p>
            <a:pPr indent="0" marL="0">
              <a:buNone/>
            </a:pPr>
            <a:r>
              <a:rPr lang="en-US" sz="1500" b="1" dirty="0">
                <a:solidFill>
                  <a:srgbClr val="0B2A3C"/>
                </a:solidFill>
                <a:latin typeface="Calibri" pitchFamily="34" charset="0"/>
                <a:ea typeface="Calibri" pitchFamily="34" charset="-122"/>
                <a:cs typeface="Calibri" pitchFamily="34" charset="-120"/>
              </a:rPr>
              <a:t>Assumptions</a:t>
            </a:r>
            <a:endParaRPr lang="en-US" sz="1500" dirty="0"/>
          </a:p>
        </p:txBody>
      </p:sp>
      <p:sp>
        <p:nvSpPr>
          <p:cNvPr id="10" name="Text 6"/>
          <p:cNvSpPr txBox="1"/>
          <p:nvPr/>
        </p:nvSpPr>
        <p:spPr>
          <a:xfrm>
            <a:off x="594360" y="3493008"/>
            <a:ext cx="2331720" cy="1097280"/>
          </a:xfrm>
          <a:prstGeom prst="rect">
            <a:avLst/>
          </a:prstGeom>
          <a:noFill/>
          <a:ln/>
        </p:spPr>
        <p:txBody>
          <a:bodyPr wrap="square" lIns="508" tIns="508" rIns="508" bIns="508" rtlCol="0" anchor="t"/>
          <a:lstStyle/>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Nearest-neighbor hopping only</a:t>
            </a:r>
            <a:endParaRPr lang="en-US" sz="1300" dirty="0"/>
          </a:p>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Orthogonal orbitals</a:t>
            </a:r>
            <a:endParaRPr lang="en-US" sz="1300" dirty="0"/>
          </a:p>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No on-site energy</a:t>
            </a:r>
            <a:endParaRPr lang="en-US" sz="1300" dirty="0"/>
          </a:p>
        </p:txBody>
      </p:sp>
      <p:sp>
        <p:nvSpPr>
          <p:cNvPr id="11" name="Shape 7"/>
          <p:cNvSpPr/>
          <p:nvPr/>
        </p:nvSpPr>
        <p:spPr>
          <a:xfrm>
            <a:off x="3291840" y="3063240"/>
            <a:ext cx="2560320" cy="1600200"/>
          </a:xfrm>
          <a:prstGeom prst="roundRect">
            <a:avLst>
              <a:gd name="adj" fmla="val 4571"/>
            </a:avLst>
          </a:prstGeom>
          <a:solidFill>
            <a:srgbClr val="EAF2F6"/>
          </a:solidFill>
          <a:ln w="12700">
            <a:solidFill>
              <a:srgbClr val="EAF2F6"/>
            </a:solidFill>
            <a:prstDash val="solid"/>
          </a:ln>
        </p:spPr>
      </p:sp>
      <p:sp>
        <p:nvSpPr>
          <p:cNvPr id="12" name="Text 8"/>
          <p:cNvSpPr txBox="1"/>
          <p:nvPr/>
        </p:nvSpPr>
        <p:spPr>
          <a:xfrm>
            <a:off x="3429000" y="3127248"/>
            <a:ext cx="2286000" cy="320040"/>
          </a:xfrm>
          <a:prstGeom prst="rect">
            <a:avLst/>
          </a:prstGeom>
          <a:noFill/>
          <a:ln/>
        </p:spPr>
        <p:txBody>
          <a:bodyPr wrap="square" lIns="508" tIns="508" rIns="508" bIns="508" rtlCol="0" anchor="t"/>
          <a:lstStyle/>
          <a:p>
            <a:pPr indent="0" marL="0">
              <a:buNone/>
            </a:pPr>
            <a:r>
              <a:rPr lang="en-US" sz="1500" b="1" dirty="0">
                <a:solidFill>
                  <a:srgbClr val="0B2A3C"/>
                </a:solidFill>
                <a:latin typeface="Calibri" pitchFamily="34" charset="0"/>
                <a:ea typeface="Calibri" pitchFamily="34" charset="-122"/>
                <a:cs typeface="Calibri" pitchFamily="34" charset="-120"/>
              </a:rPr>
              <a:t>Boundary conditions</a:t>
            </a:r>
            <a:endParaRPr lang="en-US" sz="1500" dirty="0"/>
          </a:p>
        </p:txBody>
      </p:sp>
      <p:sp>
        <p:nvSpPr>
          <p:cNvPr id="13" name="Text 9"/>
          <p:cNvSpPr txBox="1"/>
          <p:nvPr/>
        </p:nvSpPr>
        <p:spPr>
          <a:xfrm>
            <a:off x="3429000" y="3493008"/>
            <a:ext cx="2331720" cy="1097280"/>
          </a:xfrm>
          <a:prstGeom prst="rect">
            <a:avLst/>
          </a:prstGeom>
          <a:noFill/>
          <a:ln/>
        </p:spPr>
        <p:txBody>
          <a:bodyPr wrap="square" lIns="508" tIns="508" rIns="508" bIns="508" rtlCol="0" anchor="t"/>
          <a:lstStyle/>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Periodic: bands, H(k)</a:t>
            </a:r>
            <a:endParaRPr lang="en-US" sz="1300" dirty="0"/>
          </a:p>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Open: finite chain</a:t>
            </a:r>
            <a:endParaRPr lang="en-US" sz="1300" dirty="0"/>
          </a:p>
        </p:txBody>
      </p:sp>
      <p:sp>
        <p:nvSpPr>
          <p:cNvPr id="14" name="Shape 10"/>
          <p:cNvSpPr/>
          <p:nvPr/>
        </p:nvSpPr>
        <p:spPr>
          <a:xfrm>
            <a:off x="6126480" y="3063240"/>
            <a:ext cx="2560320" cy="1600200"/>
          </a:xfrm>
          <a:prstGeom prst="roundRect">
            <a:avLst>
              <a:gd name="adj" fmla="val 4571"/>
            </a:avLst>
          </a:prstGeom>
          <a:solidFill>
            <a:srgbClr val="EAF2F6"/>
          </a:solidFill>
          <a:ln w="12700">
            <a:solidFill>
              <a:srgbClr val="EAF2F6"/>
            </a:solidFill>
            <a:prstDash val="solid"/>
          </a:ln>
        </p:spPr>
      </p:sp>
      <p:sp>
        <p:nvSpPr>
          <p:cNvPr id="15" name="Text 11"/>
          <p:cNvSpPr txBox="1"/>
          <p:nvPr/>
        </p:nvSpPr>
        <p:spPr>
          <a:xfrm>
            <a:off x="6263640" y="3127248"/>
            <a:ext cx="2286000" cy="320040"/>
          </a:xfrm>
          <a:prstGeom prst="rect">
            <a:avLst/>
          </a:prstGeom>
          <a:noFill/>
          <a:ln/>
        </p:spPr>
        <p:txBody>
          <a:bodyPr wrap="square" lIns="508" tIns="508" rIns="508" bIns="508" rtlCol="0" anchor="t"/>
          <a:lstStyle/>
          <a:p>
            <a:pPr indent="0" marL="0">
              <a:buNone/>
            </a:pPr>
            <a:r>
              <a:rPr lang="en-US" sz="1500" b="1" dirty="0">
                <a:solidFill>
                  <a:srgbClr val="0B2A3C"/>
                </a:solidFill>
                <a:latin typeface="Calibri" pitchFamily="34" charset="0"/>
                <a:ea typeface="Calibri" pitchFamily="34" charset="-122"/>
                <a:cs typeface="Calibri" pitchFamily="34" charset="-120"/>
              </a:rPr>
              <a:t>Convention</a:t>
            </a:r>
            <a:endParaRPr lang="en-US" sz="1500" dirty="0"/>
          </a:p>
        </p:txBody>
      </p:sp>
      <p:sp>
        <p:nvSpPr>
          <p:cNvPr id="16" name="Text 12"/>
          <p:cNvSpPr txBox="1"/>
          <p:nvPr/>
        </p:nvSpPr>
        <p:spPr>
          <a:xfrm>
            <a:off x="6263640" y="3493008"/>
            <a:ext cx="2331720" cy="1097280"/>
          </a:xfrm>
          <a:prstGeom prst="rect">
            <a:avLst/>
          </a:prstGeom>
          <a:noFill/>
          <a:ln/>
        </p:spPr>
        <p:txBody>
          <a:bodyPr wrap="square" lIns="508" tIns="508" rIns="508" bIns="508" rtlCol="0" anchor="t"/>
          <a:lstStyle/>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Finite chain starts at A</a:t>
            </a:r>
            <a:endParaRPr lang="en-US" sz="1300" dirty="0"/>
          </a:p>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First bond is t₁</a:t>
            </a:r>
            <a:endParaRPr lang="en-US" sz="1300" dirty="0"/>
          </a:p>
          <a:p>
            <a:pPr marL="342900" indent="-342900">
              <a:spcAft>
                <a:spcPts val="600"/>
              </a:spcAft>
              <a:buSzPct val="100000"/>
              <a:buChar char="•"/>
            </a:pPr>
            <a:r>
              <a:rPr lang="en-US" sz="1300" dirty="0">
                <a:solidFill>
                  <a:srgbClr val="1F2D3A"/>
                </a:solidFill>
                <a:latin typeface="Calibri" pitchFamily="34" charset="0"/>
                <a:ea typeface="Calibri" pitchFamily="34" charset="-122"/>
                <a:cs typeface="Calibri" pitchFamily="34" charset="-120"/>
              </a:rPr>
              <a:t>t₁, t₂ in arbitrary units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Bloch Hamiltonian and the predicted gap</a:t>
            </a:r>
            <a:endParaRPr lang="en-US" sz="2200" dirty="0"/>
          </a:p>
        </p:txBody>
      </p:sp>
      <p:sp>
        <p:nvSpPr>
          <p:cNvPr id="3" name="Text 1"/>
          <p:cNvSpPr txBox="1"/>
          <p:nvPr/>
        </p:nvSpPr>
        <p:spPr>
          <a:xfrm>
            <a:off x="7406640" y="384048"/>
            <a:ext cx="1280160" cy="274320"/>
          </a:xfrm>
          <a:prstGeom prst="roundRect">
            <a:avLst>
              <a:gd name="adj" fmla="val 50000"/>
            </a:avLst>
          </a:prstGeom>
          <a:solidFill>
            <a:srgbClr val="3E5C76"/>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188720"/>
            <a:ext cx="4754880" cy="3200400"/>
          </a:xfrm>
          <a:prstGeom prst="roundRect">
            <a:avLst>
              <a:gd name="adj" fmla="val 2286"/>
            </a:avLst>
          </a:prstGeom>
          <a:solidFill>
            <a:srgbClr val="EAF2F6"/>
          </a:solidFill>
          <a:ln w="12700">
            <a:solidFill>
              <a:srgbClr val="EAF2F6"/>
            </a:solidFill>
            <a:prstDash val="solid"/>
          </a:ln>
        </p:spPr>
      </p:sp>
      <p:sp>
        <p:nvSpPr>
          <p:cNvPr id="8" name="Text 5"/>
          <p:cNvSpPr txBox="1"/>
          <p:nvPr/>
        </p:nvSpPr>
        <p:spPr>
          <a:xfrm>
            <a:off x="685800" y="1325880"/>
            <a:ext cx="4389120" cy="502920"/>
          </a:xfrm>
          <a:prstGeom prst="rect">
            <a:avLst/>
          </a:prstGeom>
          <a:noFill/>
          <a:ln/>
        </p:spPr>
        <p:txBody>
          <a:bodyPr wrap="square" lIns="508" tIns="508" rIns="508" bIns="508" rtlCol="0" anchor="t"/>
          <a:lstStyle/>
          <a:p>
            <a:pPr indent="0" marL="0">
              <a:buNone/>
            </a:pPr>
            <a:r>
              <a:rPr lang="en-US" sz="2200" dirty="0">
                <a:solidFill>
                  <a:srgbClr val="0B2A3C"/>
                </a:solidFill>
                <a:latin typeface="Cambria" pitchFamily="34" charset="0"/>
                <a:ea typeface="Cambria" pitchFamily="34" charset="-122"/>
                <a:cs typeface="Cambria" pitchFamily="34" charset="-120"/>
              </a:rPr>
              <a:t>h(k) = t₁ + t₂ e</a:t>
            </a:r>
            <a:pPr indent="0" marL="0">
              <a:buNone/>
            </a:pPr>
            <a:r>
              <a:rPr lang="en-US" sz="2200" baseline="30000" dirty="0">
                <a:solidFill>
                  <a:srgbClr val="0B2A3C"/>
                </a:solidFill>
                <a:latin typeface="Cambria" pitchFamily="34" charset="0"/>
                <a:ea typeface="Cambria" pitchFamily="34" charset="-122"/>
                <a:cs typeface="Cambria" pitchFamily="34" charset="-120"/>
              </a:rPr>
              <a:t>ika</a:t>
            </a:r>
            <a:endParaRPr lang="en-US" sz="2200" dirty="0"/>
          </a:p>
        </p:txBody>
      </p:sp>
      <p:sp>
        <p:nvSpPr>
          <p:cNvPr id="9" name="Text 6"/>
          <p:cNvSpPr txBox="1"/>
          <p:nvPr/>
        </p:nvSpPr>
        <p:spPr>
          <a:xfrm>
            <a:off x="685800" y="2011680"/>
            <a:ext cx="914400" cy="731520"/>
          </a:xfrm>
          <a:prstGeom prst="rect">
            <a:avLst/>
          </a:prstGeom>
          <a:noFill/>
          <a:ln/>
        </p:spPr>
        <p:txBody>
          <a:bodyPr wrap="square" lIns="508" tIns="508" rIns="508" bIns="508" rtlCol="0" anchor="ctr"/>
          <a:lstStyle/>
          <a:p>
            <a:pPr indent="0" marL="0">
              <a:buNone/>
            </a:pPr>
            <a:r>
              <a:rPr lang="en-US" sz="2200" dirty="0">
                <a:solidFill>
                  <a:srgbClr val="0B2A3C"/>
                </a:solidFill>
                <a:latin typeface="Cambria" pitchFamily="34" charset="0"/>
                <a:ea typeface="Cambria" pitchFamily="34" charset="-122"/>
                <a:cs typeface="Cambria" pitchFamily="34" charset="-120"/>
              </a:rPr>
              <a:t>H(k) =</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645920" y="2011680"/>
          <a:ext cx="1463040" cy="914400"/>
        </p:xfrm>
        <a:graphic>
          <a:graphicData uri="http://schemas.openxmlformats.org/drawingml/2006/table">
            <a:tbl>
              <a:tblPr/>
              <a:tblGrid>
                <a:gridCol w="731520"/>
                <a:gridCol w="731520"/>
              </a:tblGrid>
              <a:tr h="365760">
                <a:tc>
                  <a:txBody>
                    <a:bodyPr/>
                    <a:lstStyle/>
                    <a:p>
                      <a:pPr algn="ctr" indent="0" marL="0">
                        <a:buNone/>
                      </a:pPr>
                      <a:r>
                        <a:rPr lang="en-US" sz="2200" dirty="0">
                          <a:solidFill>
                            <a:srgbClr val="0B2A3C"/>
                          </a:solidFill>
                          <a:latin typeface="Cambria" pitchFamily="34" charset="0"/>
                          <a:ea typeface="Cambria" pitchFamily="34" charset="-122"/>
                          <a:cs typeface="Cambria" pitchFamily="34" charset="-120"/>
                        </a:rPr>
                        <a:t>0</a:t>
                      </a:r>
                      <a:endParaRPr lang="en-US" sz="2200" dirty="0">
                        <a:latin typeface="Cambria" charset="0"/>
                        <a:ea typeface="Cambria" charset="0"/>
                        <a:cs typeface="Cambria" charset="0"/>
                      </a:endParaRPr>
                    </a:p>
                  </a:txBody>
                  <a:tcPr marL="91440" marR="91440" marT="45720" marB="45720" anchor="ctr">
                    <a:lnL w="19050" cap="flat" cmpd="sng" algn="ctr">
                      <a:solidFill>
                        <a:srgbClr val="0B2A3C"/>
                      </a:solidFill>
                      <a:prstDash val="solid"/>
                      <a:round/>
                      <a:headEnd type="none" w="med" len="med"/>
                      <a:tailEnd type="none" w="med" len="med"/>
                    </a:lnL>
                    <a:lnR w="0" cap="flat" cmpd="sng" algn="ctr">
                      <a:noFill/>
                    </a:lnR>
                    <a:lnT w="0" cap="flat" cmpd="sng" algn="ctr">
                      <a:noFill/>
                    </a:lnT>
                    <a:lnB w="0" cap="flat" cmpd="sng" algn="ctr">
                      <a:noFill/>
                    </a:lnB>
                  </a:tcPr>
                </a:tc>
                <a:tc>
                  <a:txBody>
                    <a:bodyPr/>
                    <a:lstStyle/>
                    <a:p>
                      <a:pPr algn="ctr" indent="0" marL="0">
                        <a:buNone/>
                      </a:pPr>
                      <a:r>
                        <a:rPr lang="en-US" sz="2200" dirty="0">
                          <a:solidFill>
                            <a:srgbClr val="0B2A3C"/>
                          </a:solidFill>
                          <a:latin typeface="Cambria" pitchFamily="34" charset="0"/>
                          <a:ea typeface="Cambria" pitchFamily="34" charset="-122"/>
                          <a:cs typeface="Cambria" pitchFamily="34" charset="-120"/>
                        </a:rPr>
                        <a:t>h*</a:t>
                      </a:r>
                      <a:endParaRPr lang="en-US" sz="2200" dirty="0">
                        <a:latin typeface="Cambria" charset="0"/>
                        <a:ea typeface="Cambria" charset="0"/>
                        <a:cs typeface="Cambria" charset="0"/>
                      </a:endParaRPr>
                    </a:p>
                  </a:txBody>
                  <a:tcPr marL="91440" marR="91440" marT="45720" marB="45720" anchor="ctr">
                    <a:lnL w="0" cap="flat" cmpd="sng" algn="ctr">
                      <a:noFill/>
                    </a:lnL>
                    <a:lnR w="19050" cap="flat" cmpd="sng" algn="ctr">
                      <a:solidFill>
                        <a:srgbClr val="0B2A3C"/>
                      </a:solidFill>
                      <a:prstDash val="solid"/>
                      <a:round/>
                      <a:headEnd type="none" w="med" len="med"/>
                      <a:tailEnd type="none" w="med" len="med"/>
                    </a:lnR>
                    <a:lnT w="0" cap="flat" cmpd="sng" algn="ctr">
                      <a:noFill/>
                    </a:lnT>
                    <a:lnB w="0" cap="flat" cmpd="sng" algn="ctr">
                      <a:noFill/>
                    </a:lnB>
                  </a:tcPr>
                </a:tc>
              </a:tr>
              <a:tr h="365760">
                <a:tc>
                  <a:txBody>
                    <a:bodyPr/>
                    <a:lstStyle/>
                    <a:p>
                      <a:pPr algn="ctr" indent="0" marL="0">
                        <a:buNone/>
                      </a:pPr>
                      <a:r>
                        <a:rPr lang="en-US" sz="2200" dirty="0">
                          <a:solidFill>
                            <a:srgbClr val="0B2A3C"/>
                          </a:solidFill>
                          <a:latin typeface="Cambria" pitchFamily="34" charset="0"/>
                          <a:ea typeface="Cambria" pitchFamily="34" charset="-122"/>
                          <a:cs typeface="Cambria" pitchFamily="34" charset="-120"/>
                        </a:rPr>
                        <a:t>h</a:t>
                      </a:r>
                      <a:endParaRPr lang="en-US" sz="2200" dirty="0">
                        <a:latin typeface="Cambria" charset="0"/>
                        <a:ea typeface="Cambria" charset="0"/>
                        <a:cs typeface="Cambria" charset="0"/>
                      </a:endParaRPr>
                    </a:p>
                  </a:txBody>
                  <a:tcPr marL="91440" marR="91440" marT="45720" marB="45720" anchor="ctr">
                    <a:lnL w="19050" cap="flat" cmpd="sng" algn="ctr">
                      <a:solidFill>
                        <a:srgbClr val="0B2A3C"/>
                      </a:solidFill>
                      <a:prstDash val="solid"/>
                      <a:round/>
                      <a:headEnd type="none" w="med" len="med"/>
                      <a:tailEnd type="none" w="med" len="med"/>
                    </a:lnL>
                    <a:lnR w="0" cap="flat" cmpd="sng" algn="ctr">
                      <a:noFill/>
                    </a:lnR>
                    <a:lnT w="0" cap="flat" cmpd="sng" algn="ctr">
                      <a:noFill/>
                    </a:lnT>
                    <a:lnB w="0" cap="flat" cmpd="sng" algn="ctr">
                      <a:noFill/>
                    </a:lnB>
                  </a:tcPr>
                </a:tc>
                <a:tc>
                  <a:txBody>
                    <a:bodyPr/>
                    <a:lstStyle/>
                    <a:p>
                      <a:pPr algn="ctr" indent="0" marL="0">
                        <a:buNone/>
                      </a:pPr>
                      <a:r>
                        <a:rPr lang="en-US" sz="2200" dirty="0">
                          <a:solidFill>
                            <a:srgbClr val="0B2A3C"/>
                          </a:solidFill>
                          <a:latin typeface="Cambria" pitchFamily="34" charset="0"/>
                          <a:ea typeface="Cambria" pitchFamily="34" charset="-122"/>
                          <a:cs typeface="Cambria" pitchFamily="34" charset="-120"/>
                        </a:rPr>
                        <a:t>0</a:t>
                      </a:r>
                      <a:endParaRPr lang="en-US" sz="2200" dirty="0">
                        <a:latin typeface="Cambria" charset="0"/>
                        <a:ea typeface="Cambria" charset="0"/>
                        <a:cs typeface="Cambria" charset="0"/>
                      </a:endParaRPr>
                    </a:p>
                  </a:txBody>
                  <a:tcPr marL="91440" marR="91440" marT="45720" marB="45720" anchor="ctr">
                    <a:lnL w="0" cap="flat" cmpd="sng" algn="ctr">
                      <a:noFill/>
                    </a:lnL>
                    <a:lnR w="19050" cap="flat" cmpd="sng" algn="ctr">
                      <a:solidFill>
                        <a:srgbClr val="0B2A3C"/>
                      </a:solidFill>
                      <a:prstDash val="solid"/>
                      <a:round/>
                      <a:headEnd type="none" w="med" len="med"/>
                      <a:tailEnd type="none" w="med" len="med"/>
                    </a:lnR>
                    <a:lnT w="0" cap="flat" cmpd="sng" algn="ctr">
                      <a:noFill/>
                    </a:lnT>
                    <a:lnB w="0" cap="flat" cmpd="sng" algn="ctr">
                      <a:noFill/>
                    </a:lnB>
                  </a:tcPr>
                </a:tc>
              </a:tr>
            </a:tbl>
          </a:graphicData>
        </a:graphic>
      </p:graphicFrame>
      <p:sp>
        <p:nvSpPr>
          <p:cNvPr id="11" name="Text 7"/>
          <p:cNvSpPr txBox="1"/>
          <p:nvPr/>
        </p:nvSpPr>
        <p:spPr>
          <a:xfrm>
            <a:off x="685800" y="2880360"/>
            <a:ext cx="4389120" cy="502920"/>
          </a:xfrm>
          <a:prstGeom prst="rect">
            <a:avLst/>
          </a:prstGeom>
          <a:noFill/>
          <a:ln/>
        </p:spPr>
        <p:txBody>
          <a:bodyPr wrap="square" lIns="508" tIns="508" rIns="508" bIns="508" rtlCol="0" anchor="t"/>
          <a:lstStyle/>
          <a:p>
            <a:pPr indent="0" marL="0">
              <a:buNone/>
            </a:pPr>
            <a:r>
              <a:rPr lang="en-US" sz="2200" dirty="0">
                <a:solidFill>
                  <a:srgbClr val="0B2A3C"/>
                </a:solidFill>
                <a:latin typeface="Cambria" pitchFamily="34" charset="0"/>
                <a:ea typeface="Cambria" pitchFamily="34" charset="-122"/>
                <a:cs typeface="Cambria" pitchFamily="34" charset="-120"/>
              </a:rPr>
              <a:t>E±(k) = ± |h(k)|</a:t>
            </a:r>
            <a:endParaRPr lang="en-US" sz="2200" dirty="0"/>
          </a:p>
        </p:txBody>
      </p:sp>
      <p:sp>
        <p:nvSpPr>
          <p:cNvPr id="12" name="Text 8"/>
          <p:cNvSpPr txBox="1"/>
          <p:nvPr/>
        </p:nvSpPr>
        <p:spPr>
          <a:xfrm>
            <a:off x="685800" y="3474720"/>
            <a:ext cx="4389120" cy="457200"/>
          </a:xfrm>
          <a:prstGeom prst="rect">
            <a:avLst/>
          </a:prstGeom>
          <a:noFill/>
          <a:ln/>
        </p:spPr>
        <p:txBody>
          <a:bodyPr wrap="square" lIns="508" tIns="508" rIns="508" bIns="508" rtlCol="0" anchor="t"/>
          <a:lstStyle/>
          <a:p>
            <a:pPr indent="0" marL="0">
              <a:buNone/>
            </a:pPr>
            <a:r>
              <a:rPr lang="en-US" sz="1900" dirty="0">
                <a:solidFill>
                  <a:srgbClr val="0B2A3C"/>
                </a:solidFill>
                <a:latin typeface="Cambria" pitchFamily="34" charset="0"/>
                <a:ea typeface="Cambria" pitchFamily="34" charset="-122"/>
                <a:cs typeface="Cambria" pitchFamily="34" charset="-120"/>
              </a:rPr>
              <a:t>|h|² = t₁² + t₂² + 2 t₁t₂ cos ka</a:t>
            </a:r>
            <a:endParaRPr lang="en-US" sz="1900" dirty="0"/>
          </a:p>
        </p:txBody>
      </p:sp>
      <p:sp>
        <p:nvSpPr>
          <p:cNvPr id="13" name="Text 9"/>
          <p:cNvSpPr txBox="1"/>
          <p:nvPr/>
        </p:nvSpPr>
        <p:spPr>
          <a:xfrm>
            <a:off x="685800" y="3977640"/>
            <a:ext cx="4389120" cy="365760"/>
          </a:xfrm>
          <a:prstGeom prst="rect">
            <a:avLst/>
          </a:prstGeom>
          <a:noFill/>
          <a:ln/>
        </p:spPr>
        <p:txBody>
          <a:bodyPr wrap="square" lIns="508" tIns="508" rIns="508" bIns="508" rtlCol="0" anchor="t"/>
          <a:lstStyle/>
          <a:p>
            <a:pPr indent="0" marL="0">
              <a:buNone/>
            </a:pPr>
            <a:r>
              <a:rPr lang="en-US" sz="1100" dirty="0">
                <a:solidFill>
                  <a:srgbClr val="6B7C8A"/>
                </a:solidFill>
                <a:latin typeface="Calibri" pitchFamily="34" charset="0"/>
                <a:ea typeface="Calibri" pitchFamily="34" charset="-122"/>
                <a:cs typeface="Calibri" pitchFamily="34" charset="-120"/>
              </a:rPr>
              <a:t>diagonal = 0 because there is no on-site energy</a:t>
            </a:r>
            <a:endParaRPr lang="en-US" sz="1100" dirty="0"/>
          </a:p>
        </p:txBody>
      </p:sp>
      <p:sp>
        <p:nvSpPr>
          <p:cNvPr id="14" name="Shape 10"/>
          <p:cNvSpPr/>
          <p:nvPr/>
        </p:nvSpPr>
        <p:spPr>
          <a:xfrm>
            <a:off x="5486400" y="1188720"/>
            <a:ext cx="3200400" cy="960120"/>
          </a:xfrm>
          <a:prstGeom prst="roundRect">
            <a:avLst>
              <a:gd name="adj" fmla="val 7619"/>
            </a:avLst>
          </a:prstGeom>
          <a:solidFill>
            <a:srgbClr val="FFFFFF"/>
          </a:solidFill>
          <a:ln w="12700">
            <a:solidFill>
              <a:srgbClr val="FFFFFF"/>
            </a:solidFill>
            <a:prstDash val="solid"/>
          </a:ln>
        </p:spPr>
      </p:sp>
      <p:sp>
        <p:nvSpPr>
          <p:cNvPr id="15" name="Shape 11"/>
          <p:cNvSpPr/>
          <p:nvPr/>
        </p:nvSpPr>
        <p:spPr>
          <a:xfrm>
            <a:off x="5486400" y="1188720"/>
            <a:ext cx="3200400" cy="960120"/>
          </a:xfrm>
          <a:prstGeom prst="roundRect">
            <a:avLst>
              <a:gd name="adj" fmla="val 7619"/>
            </a:avLst>
          </a:prstGeom>
          <a:solidFill>
            <a:srgbClr val="FFFFFF"/>
          </a:solidFill>
          <a:ln w="12700">
            <a:solidFill>
              <a:srgbClr val="CADCFC"/>
            </a:solidFill>
            <a:prstDash val="solid"/>
          </a:ln>
        </p:spPr>
      </p:sp>
      <p:sp>
        <p:nvSpPr>
          <p:cNvPr id="16" name="Text 12"/>
          <p:cNvSpPr txBox="1"/>
          <p:nvPr/>
        </p:nvSpPr>
        <p:spPr>
          <a:xfrm>
            <a:off x="5623560" y="1261872"/>
            <a:ext cx="2926080" cy="822960"/>
          </a:xfrm>
          <a:prstGeom prst="rect">
            <a:avLst/>
          </a:prstGeom>
          <a:noFill/>
          <a:ln/>
        </p:spPr>
        <p:txBody>
          <a:bodyPr wrap="square" lIns="508" tIns="508" rIns="508" bIns="508" rtlCol="0" anchor="t"/>
          <a:lstStyle/>
          <a:p>
            <a:pPr indent="0" marL="0">
              <a:buNone/>
            </a:pPr>
            <a:r>
              <a:rPr lang="en-US" sz="1400" b="1" dirty="0">
                <a:solidFill>
                  <a:srgbClr val="0B2A3C"/>
                </a:solidFill>
                <a:latin typeface="Calibri" pitchFamily="34" charset="0"/>
                <a:ea typeface="Calibri" pitchFamily="34" charset="-122"/>
                <a:cs typeface="Calibri" pitchFamily="34" charset="-120"/>
              </a:rPr>
              <a:t>k = 0</a:t>
            </a:r>
            <a:endParaRPr lang="en-US" sz="1400" dirty="0"/>
          </a:p>
          <a:p>
            <a:pPr indent="0" marL="0">
              <a:buNone/>
            </a:pPr>
            <a:r>
              <a:rPr lang="en-US" sz="1400" dirty="0">
                <a:solidFill>
                  <a:srgbClr val="1F2D3A"/>
                </a:solidFill>
                <a:latin typeface="Calibri" pitchFamily="34" charset="0"/>
                <a:ea typeface="Calibri" pitchFamily="34" charset="-122"/>
                <a:cs typeface="Calibri" pitchFamily="34" charset="-120"/>
              </a:rPr>
              <a:t>|E| = t₁ + t₂   (bands farthest)</a:t>
            </a:r>
            <a:endParaRPr lang="en-US" sz="1400" dirty="0"/>
          </a:p>
        </p:txBody>
      </p:sp>
      <p:sp>
        <p:nvSpPr>
          <p:cNvPr id="17" name="Shape 13"/>
          <p:cNvSpPr/>
          <p:nvPr/>
        </p:nvSpPr>
        <p:spPr>
          <a:xfrm>
            <a:off x="5486400" y="2286000"/>
            <a:ext cx="3200400" cy="960120"/>
          </a:xfrm>
          <a:prstGeom prst="roundRect">
            <a:avLst>
              <a:gd name="adj" fmla="val 7619"/>
            </a:avLst>
          </a:prstGeom>
          <a:solidFill>
            <a:srgbClr val="FFFFFF"/>
          </a:solidFill>
          <a:ln w="12700">
            <a:solidFill>
              <a:srgbClr val="CADCFC"/>
            </a:solidFill>
            <a:prstDash val="solid"/>
          </a:ln>
        </p:spPr>
      </p:sp>
      <p:sp>
        <p:nvSpPr>
          <p:cNvPr id="18" name="Text 14"/>
          <p:cNvSpPr txBox="1"/>
          <p:nvPr/>
        </p:nvSpPr>
        <p:spPr>
          <a:xfrm>
            <a:off x="5623560" y="2359152"/>
            <a:ext cx="2926080" cy="822960"/>
          </a:xfrm>
          <a:prstGeom prst="rect">
            <a:avLst/>
          </a:prstGeom>
          <a:noFill/>
          <a:ln/>
        </p:spPr>
        <p:txBody>
          <a:bodyPr wrap="square" lIns="508" tIns="508" rIns="508" bIns="508" rtlCol="0" anchor="t"/>
          <a:lstStyle/>
          <a:p>
            <a:pPr indent="0" marL="0">
              <a:buNone/>
            </a:pPr>
            <a:r>
              <a:rPr lang="en-US" sz="1400" b="1" dirty="0">
                <a:solidFill>
                  <a:srgbClr val="0B2A3C"/>
                </a:solidFill>
                <a:latin typeface="Calibri" pitchFamily="34" charset="0"/>
                <a:ea typeface="Calibri" pitchFamily="34" charset="-122"/>
                <a:cs typeface="Calibri" pitchFamily="34" charset="-120"/>
              </a:rPr>
              <a:t>k = π/a</a:t>
            </a:r>
            <a:endParaRPr lang="en-US" sz="1400" dirty="0"/>
          </a:p>
          <a:p>
            <a:pPr indent="0" marL="0">
              <a:buNone/>
            </a:pPr>
            <a:r>
              <a:rPr lang="en-US" sz="1400" dirty="0">
                <a:solidFill>
                  <a:srgbClr val="1F2D3A"/>
                </a:solidFill>
                <a:latin typeface="Calibri" pitchFamily="34" charset="0"/>
                <a:ea typeface="Calibri" pitchFamily="34" charset="-122"/>
                <a:cs typeface="Calibri" pitchFamily="34" charset="-120"/>
              </a:rPr>
              <a:t>|E| = |t₁ − t₂|   (bands closest)</a:t>
            </a:r>
            <a:endParaRPr lang="en-US" sz="1400" dirty="0"/>
          </a:p>
        </p:txBody>
      </p:sp>
      <p:sp>
        <p:nvSpPr>
          <p:cNvPr id="19" name="Shape 15"/>
          <p:cNvSpPr/>
          <p:nvPr/>
        </p:nvSpPr>
        <p:spPr>
          <a:xfrm>
            <a:off x="5486400" y="3383280"/>
            <a:ext cx="3200400" cy="1005840"/>
          </a:xfrm>
          <a:prstGeom prst="roundRect">
            <a:avLst>
              <a:gd name="adj" fmla="val 7273"/>
            </a:avLst>
          </a:prstGeom>
          <a:solidFill>
            <a:srgbClr val="E07A1F"/>
          </a:solidFill>
          <a:ln w="12700">
            <a:solidFill>
              <a:srgbClr val="E07A1F"/>
            </a:solidFill>
            <a:prstDash val="solid"/>
          </a:ln>
        </p:spPr>
      </p:sp>
      <p:sp>
        <p:nvSpPr>
          <p:cNvPr id="20" name="Text 16"/>
          <p:cNvSpPr txBox="1"/>
          <p:nvPr/>
        </p:nvSpPr>
        <p:spPr>
          <a:xfrm>
            <a:off x="5623560" y="3429000"/>
            <a:ext cx="2926080" cy="914400"/>
          </a:xfrm>
          <a:prstGeom prst="rect">
            <a:avLst/>
          </a:prstGeom>
          <a:noFill/>
          <a:ln/>
        </p:spPr>
        <p:txBody>
          <a:bodyPr wrap="square" lIns="508" tIns="508" rIns="508" bIns="508"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Prediction</a:t>
            </a:r>
            <a:endParaRPr lang="en-US" sz="1400" dirty="0"/>
          </a:p>
          <a:p>
            <a:pPr indent="0" marL="0">
              <a:buNone/>
            </a:pPr>
            <a:r>
              <a:rPr lang="en-US" sz="2000" b="1" dirty="0">
                <a:solidFill>
                  <a:srgbClr val="FFFFFF"/>
                </a:solidFill>
                <a:latin typeface="Cambria" pitchFamily="34" charset="0"/>
                <a:ea typeface="Cambria" pitchFamily="34" charset="-122"/>
                <a:cs typeface="Cambria" pitchFamily="34" charset="-120"/>
              </a:rPr>
              <a:t>E</a:t>
            </a:r>
            <a:pPr indent="0" marL="0">
              <a:buNone/>
            </a:pPr>
            <a:r>
              <a:rPr lang="en-US" sz="2000" b="1" baseline="-40000" dirty="0">
                <a:solidFill>
                  <a:srgbClr val="FFFFFF"/>
                </a:solidFill>
                <a:latin typeface="Cambria" pitchFamily="34" charset="0"/>
                <a:ea typeface="Cambria" pitchFamily="34" charset="-122"/>
                <a:cs typeface="Cambria" pitchFamily="34" charset="-120"/>
              </a:rPr>
              <a:t>gap</a:t>
            </a:r>
            <a:pPr indent="0" marL="0">
              <a:buNone/>
            </a:pPr>
            <a:r>
              <a:rPr lang="en-US" sz="2000" b="1" dirty="0">
                <a:solidFill>
                  <a:srgbClr val="FFFFFF"/>
                </a:solidFill>
                <a:latin typeface="Cambria" pitchFamily="34" charset="0"/>
                <a:ea typeface="Cambria" pitchFamily="34" charset="-122"/>
                <a:cs typeface="Cambria" pitchFamily="34" charset="-120"/>
              </a:rPr>
              <a:t> = 2|t₁ − t₂|</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Quantities computed</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3E5C76"/>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6</a:t>
            </a:r>
            <a:endParaRPr lang="en-US" sz="900" dirty="0"/>
          </a:p>
        </p:txBody>
      </p:sp>
      <p:sp>
        <p:nvSpPr>
          <p:cNvPr id="7" name="Text 4"/>
          <p:cNvSpPr txBox="1"/>
          <p:nvPr/>
        </p:nvSpPr>
        <p:spPr>
          <a:xfrm>
            <a:off x="457200" y="128016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1005840" y="1188720"/>
            <a:ext cx="3108960" cy="365760"/>
          </a:xfrm>
          <a:prstGeom prst="rect">
            <a:avLst/>
          </a:prstGeom>
          <a:noFill/>
          <a:ln/>
        </p:spPr>
        <p:txBody>
          <a:bodyPr wrap="square" lIns="508" tIns="508" rIns="508" bIns="508"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Bands</a:t>
            </a:r>
            <a:endParaRPr lang="en-US" sz="1800" dirty="0"/>
          </a:p>
        </p:txBody>
      </p:sp>
      <p:sp>
        <p:nvSpPr>
          <p:cNvPr id="9" name="Text 6"/>
          <p:cNvSpPr txBox="1"/>
          <p:nvPr/>
        </p:nvSpPr>
        <p:spPr>
          <a:xfrm>
            <a:off x="1005840" y="1572768"/>
            <a:ext cx="3108960" cy="54864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eigenvalues of H(k) at each k</a:t>
            </a:r>
            <a:endParaRPr lang="en-US" sz="1400" dirty="0"/>
          </a:p>
        </p:txBody>
      </p:sp>
      <p:sp>
        <p:nvSpPr>
          <p:cNvPr id="10" name="Text 7"/>
          <p:cNvSpPr txBox="1"/>
          <p:nvPr/>
        </p:nvSpPr>
        <p:spPr>
          <a:xfrm>
            <a:off x="457200" y="233172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005840" y="2240280"/>
            <a:ext cx="3108960" cy="365760"/>
          </a:xfrm>
          <a:prstGeom prst="rect">
            <a:avLst/>
          </a:prstGeom>
          <a:noFill/>
          <a:ln/>
        </p:spPr>
        <p:txBody>
          <a:bodyPr wrap="square" lIns="508" tIns="508" rIns="508" bIns="508"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Gap</a:t>
            </a:r>
            <a:endParaRPr lang="en-US" sz="1800" dirty="0"/>
          </a:p>
        </p:txBody>
      </p:sp>
      <p:sp>
        <p:nvSpPr>
          <p:cNvPr id="12" name="Text 9"/>
          <p:cNvSpPr txBox="1"/>
          <p:nvPr/>
        </p:nvSpPr>
        <p:spPr>
          <a:xfrm>
            <a:off x="1005840" y="2624328"/>
            <a:ext cx="3108960" cy="54864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min E₊ − max E₋</a:t>
            </a:r>
            <a:endParaRPr lang="en-US" sz="1400" dirty="0"/>
          </a:p>
        </p:txBody>
      </p:sp>
      <p:sp>
        <p:nvSpPr>
          <p:cNvPr id="13" name="Text 10"/>
          <p:cNvSpPr txBox="1"/>
          <p:nvPr/>
        </p:nvSpPr>
        <p:spPr>
          <a:xfrm>
            <a:off x="457200" y="3383280"/>
            <a:ext cx="365760" cy="365760"/>
          </a:xfrm>
          <a:prstGeom prst="ellipse">
            <a:avLst/>
          </a:prstGeom>
          <a:solidFill>
            <a:srgbClr val="1C7293"/>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1005840" y="3291840"/>
            <a:ext cx="3108960" cy="365760"/>
          </a:xfrm>
          <a:prstGeom prst="rect">
            <a:avLst/>
          </a:prstGeom>
          <a:noFill/>
          <a:ln/>
        </p:spPr>
        <p:txBody>
          <a:bodyPr wrap="square" lIns="508" tIns="508" rIns="508" bIns="508" rtlCol="0" anchor="t"/>
          <a:lstStyle/>
          <a:p>
            <a:pPr indent="0" marL="0">
              <a:buNone/>
            </a:pPr>
            <a:r>
              <a:rPr lang="en-US" sz="1800" b="1" dirty="0">
                <a:solidFill>
                  <a:srgbClr val="0B2A3C"/>
                </a:solidFill>
                <a:latin typeface="Calibri" pitchFamily="34" charset="0"/>
                <a:ea typeface="Calibri" pitchFamily="34" charset="-122"/>
                <a:cs typeface="Calibri" pitchFamily="34" charset="-120"/>
              </a:rPr>
              <a:t>Finite chain</a:t>
            </a:r>
            <a:endParaRPr lang="en-US" sz="1800" dirty="0"/>
          </a:p>
        </p:txBody>
      </p:sp>
      <p:sp>
        <p:nvSpPr>
          <p:cNvPr id="15" name="Text 12"/>
          <p:cNvSpPr txBox="1"/>
          <p:nvPr/>
        </p:nvSpPr>
        <p:spPr>
          <a:xfrm>
            <a:off x="1005840" y="3675888"/>
            <a:ext cx="3108960" cy="548640"/>
          </a:xfrm>
          <a:prstGeom prst="rect">
            <a:avLst/>
          </a:prstGeom>
          <a:noFill/>
          <a:ln/>
        </p:spPr>
        <p:txBody>
          <a:bodyPr wrap="square" lIns="508" tIns="508" rIns="508" bIns="508" rtlCol="0" anchor="t"/>
          <a:lstStyle/>
          <a:p>
            <a:pPr indent="0" marL="0">
              <a:buNone/>
            </a:pPr>
            <a:r>
              <a:rPr lang="en-US" sz="1400" dirty="0">
                <a:solidFill>
                  <a:srgbClr val="1F2D3A"/>
                </a:solidFill>
                <a:latin typeface="Calibri" pitchFamily="34" charset="0"/>
                <a:ea typeface="Calibri" pitchFamily="34" charset="-122"/>
                <a:cs typeface="Calibri" pitchFamily="34" charset="-120"/>
              </a:rPr>
              <a:t>smallest |E| of the 2N×2N matrix</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0" y="1234440"/>
          <a:ext cx="4114800" cy="914400"/>
        </p:xfrm>
        <a:graphic>
          <a:graphicData uri="http://schemas.openxmlformats.org/drawingml/2006/table">
            <a:tbl>
              <a:tblPr/>
              <a:tblGrid>
                <a:gridCol w="640080"/>
                <a:gridCol w="868680"/>
                <a:gridCol w="868680"/>
                <a:gridCol w="868680"/>
                <a:gridCol w="868680"/>
              </a:tblGrid>
              <a:tr h="5029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A₁</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B₁</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A₁</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b="1" dirty="0">
                          <a:solidFill>
                            <a:srgbClr val="1C7293"/>
                          </a:solidFill>
                          <a:latin typeface="Cambria" pitchFamily="34" charset="0"/>
                          <a:ea typeface="Cambria" pitchFamily="34" charset="-122"/>
                          <a:cs typeface="Cambria" pitchFamily="34" charset="-120"/>
                        </a:rPr>
                        <a:t>t₁</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B₁</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algn="ctr" indent="0" marL="0">
                        <a:buNone/>
                      </a:pPr>
                      <a:r>
                        <a:rPr lang="en-US" sz="1600" b="1" dirty="0">
                          <a:solidFill>
                            <a:srgbClr val="1C7293"/>
                          </a:solidFill>
                          <a:latin typeface="Cambria" pitchFamily="34" charset="0"/>
                          <a:ea typeface="Cambria" pitchFamily="34" charset="-122"/>
                          <a:cs typeface="Cambria" pitchFamily="34" charset="-120"/>
                        </a:rPr>
                        <a:t>t₁</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b="1" dirty="0">
                          <a:solidFill>
                            <a:srgbClr val="E07A1F"/>
                          </a:solidFill>
                          <a:latin typeface="Cambria" pitchFamily="34" charset="0"/>
                          <a:ea typeface="Cambria" pitchFamily="34" charset="-122"/>
                          <a:cs typeface="Cambria" pitchFamily="34" charset="-120"/>
                        </a:rPr>
                        <a:t>t₂</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b="1" dirty="0">
                          <a:solidFill>
                            <a:srgbClr val="E07A1F"/>
                          </a:solidFill>
                          <a:latin typeface="Cambria" pitchFamily="34" charset="0"/>
                          <a:ea typeface="Cambria" pitchFamily="34" charset="-122"/>
                          <a:cs typeface="Cambria" pitchFamily="34" charset="-120"/>
                        </a:rPr>
                        <a:t>t₂</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b="1" dirty="0">
                          <a:solidFill>
                            <a:srgbClr val="1C7293"/>
                          </a:solidFill>
                          <a:latin typeface="Cambria" pitchFamily="34" charset="0"/>
                          <a:ea typeface="Cambria" pitchFamily="34" charset="-122"/>
                          <a:cs typeface="Cambria" pitchFamily="34" charset="-120"/>
                        </a:rPr>
                        <a:t>t₁</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b="1" dirty="0">
                          <a:solidFill>
                            <a:srgbClr val="1C7293"/>
                          </a:solidFill>
                          <a:latin typeface="Cambria" pitchFamily="34" charset="0"/>
                          <a:ea typeface="Cambria" pitchFamily="34" charset="-122"/>
                          <a:cs typeface="Cambria" pitchFamily="34" charset="-120"/>
                        </a:rPr>
                        <a:t>t₁</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600" dirty="0">
                          <a:solidFill>
                            <a:srgbClr val="6B7C8A"/>
                          </a:solidFill>
                          <a:latin typeface="Cambria" pitchFamily="34" charset="0"/>
                          <a:ea typeface="Cambria" pitchFamily="34" charset="-122"/>
                          <a:cs typeface="Cambria" pitchFamily="34" charset="-120"/>
                        </a:rPr>
                        <a:t>0</a:t>
                      </a:r>
                      <a:endParaRPr lang="en-US" sz="1600" dirty="0">
                        <a:latin typeface="Cambria" charset="0"/>
                        <a:ea typeface="Cambria" charset="0"/>
                        <a:cs typeface="Cambria"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
        <p:nvSpPr>
          <p:cNvPr id="17" name="Text 13"/>
          <p:cNvSpPr txBox="1"/>
          <p:nvPr/>
        </p:nvSpPr>
        <p:spPr>
          <a:xfrm>
            <a:off x="4572000" y="3840480"/>
            <a:ext cx="4114800" cy="320040"/>
          </a:xfrm>
          <a:prstGeom prst="rect">
            <a:avLst/>
          </a:prstGeom>
          <a:noFill/>
          <a:ln/>
        </p:spPr>
        <p:txBody>
          <a:bodyPr wrap="square" lIns="508" tIns="508" rIns="508" bIns="508" rtlCol="0" anchor="t"/>
          <a:lstStyle/>
          <a:p>
            <a:pPr indent="0" marL="0">
              <a:buNone/>
            </a:pPr>
            <a:r>
              <a:rPr lang="en-US" sz="1100" dirty="0">
                <a:solidFill>
                  <a:srgbClr val="6B7C8A"/>
                </a:solidFill>
                <a:latin typeface="Calibri" pitchFamily="34" charset="0"/>
                <a:ea typeface="Calibri" pitchFamily="34" charset="-122"/>
                <a:cs typeface="Calibri" pitchFamily="34" charset="-120"/>
              </a:rPr>
              <a:t>H for N_c = 2 (4 atoms): an example, not a result</a:t>
            </a:r>
            <a:endParaRPr lang="en-US" sz="1100" dirty="0"/>
          </a:p>
        </p:txBody>
      </p:sp>
      <p:sp>
        <p:nvSpPr>
          <p:cNvPr id="18" name="Text 14"/>
          <p:cNvSpPr txBox="1"/>
          <p:nvPr/>
        </p:nvSpPr>
        <p:spPr>
          <a:xfrm>
            <a:off x="4572000" y="4160520"/>
            <a:ext cx="4114800" cy="457200"/>
          </a:xfrm>
          <a:prstGeom prst="rect">
            <a:avLst/>
          </a:prstGeom>
          <a:noFill/>
          <a:ln/>
        </p:spPr>
        <p:txBody>
          <a:bodyPr wrap="square" lIns="508" tIns="508" rIns="508" bIns="508" rtlCol="0" anchor="t"/>
          <a:lstStyle/>
          <a:p>
            <a:pPr indent="0" marL="0">
              <a:buNone/>
            </a:pPr>
            <a:r>
              <a:rPr lang="en-US" sz="1200" dirty="0">
                <a:solidFill>
                  <a:srgbClr val="1F2D3A"/>
                </a:solidFill>
                <a:latin typeface="Calibri" pitchFamily="34" charset="0"/>
                <a:ea typeface="Calibri" pitchFamily="34" charset="-122"/>
                <a:cs typeface="Calibri" pitchFamily="34" charset="-120"/>
              </a:rPr>
              <a:t>Open chain: no Bloch theorem, so diagonalize in real space.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Numerical workflow</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3E5C76"/>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188720"/>
            <a:ext cx="3931920" cy="685800"/>
          </a:xfrm>
          <a:prstGeom prst="roundRect">
            <a:avLst>
              <a:gd name="adj" fmla="val 10667"/>
            </a:avLst>
          </a:prstGeom>
          <a:solidFill>
            <a:srgbClr val="EAF2F6"/>
          </a:solidFill>
          <a:ln w="12700">
            <a:solidFill>
              <a:srgbClr val="EAF2F6"/>
            </a:solidFill>
            <a:prstDash val="solid"/>
          </a:ln>
        </p:spPr>
      </p:sp>
      <p:sp>
        <p:nvSpPr>
          <p:cNvPr id="8" name="Text 5"/>
          <p:cNvSpPr txBox="1"/>
          <p:nvPr/>
        </p:nvSpPr>
        <p:spPr>
          <a:xfrm>
            <a:off x="594360" y="1344168"/>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25296"/>
            <a:ext cx="3200400" cy="612648"/>
          </a:xfrm>
          <a:prstGeom prst="rect">
            <a:avLst/>
          </a:prstGeom>
          <a:noFill/>
          <a:ln/>
        </p:spPr>
        <p:txBody>
          <a:bodyPr wrap="square" lIns="508" tIns="508" rIns="508" bIns="508" rtlCol="0" anchor="ctr"/>
          <a:lstStyle/>
          <a:p>
            <a:pPr indent="0" marL="0">
              <a:buNone/>
            </a:pPr>
            <a:r>
              <a:rPr lang="en-US" sz="1300" dirty="0">
                <a:solidFill>
                  <a:srgbClr val="1F2D3A"/>
                </a:solidFill>
                <a:latin typeface="Calibri" pitchFamily="34" charset="0"/>
                <a:ea typeface="Calibri" pitchFamily="34" charset="-122"/>
                <a:cs typeface="Calibri" pitchFamily="34" charset="-120"/>
              </a:rPr>
              <a:t>Read input/params.json</a:t>
            </a:r>
            <a:endParaRPr lang="en-US" sz="1300" dirty="0"/>
          </a:p>
        </p:txBody>
      </p:sp>
      <p:sp>
        <p:nvSpPr>
          <p:cNvPr id="10" name="Shape 7"/>
          <p:cNvSpPr/>
          <p:nvPr/>
        </p:nvSpPr>
        <p:spPr>
          <a:xfrm>
            <a:off x="2423160" y="1874520"/>
            <a:ext cx="0" cy="182880"/>
          </a:xfrm>
          <a:prstGeom prst="line">
            <a:avLst/>
          </a:prstGeom>
          <a:noFill/>
          <a:ln w="19050">
            <a:solidFill>
              <a:srgbClr val="6B7C8A"/>
            </a:solidFill>
            <a:prstDash val="solid"/>
            <a:tailEnd type="triangle"/>
          </a:ln>
        </p:spPr>
      </p:sp>
      <p:sp>
        <p:nvSpPr>
          <p:cNvPr id="11" name="Shape 8"/>
          <p:cNvSpPr/>
          <p:nvPr/>
        </p:nvSpPr>
        <p:spPr>
          <a:xfrm>
            <a:off x="457200" y="2057400"/>
            <a:ext cx="3931920" cy="685800"/>
          </a:xfrm>
          <a:prstGeom prst="roundRect">
            <a:avLst>
              <a:gd name="adj" fmla="val 10667"/>
            </a:avLst>
          </a:prstGeom>
          <a:solidFill>
            <a:srgbClr val="EAF2F6"/>
          </a:solidFill>
          <a:ln w="12700">
            <a:solidFill>
              <a:srgbClr val="EAF2F6"/>
            </a:solidFill>
            <a:prstDash val="solid"/>
          </a:ln>
        </p:spPr>
      </p:sp>
      <p:sp>
        <p:nvSpPr>
          <p:cNvPr id="12" name="Text 9"/>
          <p:cNvSpPr txBox="1"/>
          <p:nvPr/>
        </p:nvSpPr>
        <p:spPr>
          <a:xfrm>
            <a:off x="594360" y="2212848"/>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2093976"/>
            <a:ext cx="3200400" cy="612648"/>
          </a:xfrm>
          <a:prstGeom prst="rect">
            <a:avLst/>
          </a:prstGeom>
          <a:noFill/>
          <a:ln/>
        </p:spPr>
        <p:txBody>
          <a:bodyPr wrap="square" lIns="508" tIns="508" rIns="508" bIns="508" rtlCol="0" anchor="ctr"/>
          <a:lstStyle/>
          <a:p>
            <a:pPr indent="0" marL="0">
              <a:buNone/>
            </a:pPr>
            <a:r>
              <a:rPr lang="en-US" sz="1300" dirty="0">
                <a:solidFill>
                  <a:srgbClr val="1F2D3A"/>
                </a:solidFill>
                <a:latin typeface="Calibri" pitchFamily="34" charset="0"/>
                <a:ea typeface="Calibri" pitchFamily="34" charset="-122"/>
                <a:cs typeface="Calibri" pitchFamily="34" charset="-120"/>
              </a:rPr>
              <a:t>Diagonalize: 2×2 per k, 2N×2N for the open chain</a:t>
            </a:r>
            <a:endParaRPr lang="en-US" sz="1300" dirty="0"/>
          </a:p>
        </p:txBody>
      </p:sp>
      <p:sp>
        <p:nvSpPr>
          <p:cNvPr id="14" name="Shape 11"/>
          <p:cNvSpPr/>
          <p:nvPr/>
        </p:nvSpPr>
        <p:spPr>
          <a:xfrm>
            <a:off x="2423160" y="2743200"/>
            <a:ext cx="0" cy="182880"/>
          </a:xfrm>
          <a:prstGeom prst="line">
            <a:avLst/>
          </a:prstGeom>
          <a:noFill/>
          <a:ln w="19050">
            <a:solidFill>
              <a:srgbClr val="6B7C8A"/>
            </a:solidFill>
            <a:prstDash val="solid"/>
            <a:tailEnd type="triangle"/>
          </a:ln>
        </p:spPr>
      </p:sp>
      <p:sp>
        <p:nvSpPr>
          <p:cNvPr id="15" name="Shape 12"/>
          <p:cNvSpPr/>
          <p:nvPr/>
        </p:nvSpPr>
        <p:spPr>
          <a:xfrm>
            <a:off x="457200" y="2926080"/>
            <a:ext cx="3931920" cy="685800"/>
          </a:xfrm>
          <a:prstGeom prst="roundRect">
            <a:avLst>
              <a:gd name="adj" fmla="val 10667"/>
            </a:avLst>
          </a:prstGeom>
          <a:solidFill>
            <a:srgbClr val="EAF2F6"/>
          </a:solidFill>
          <a:ln w="12700">
            <a:solidFill>
              <a:srgbClr val="EAF2F6"/>
            </a:solidFill>
            <a:prstDash val="solid"/>
          </a:ln>
        </p:spPr>
      </p:sp>
      <p:sp>
        <p:nvSpPr>
          <p:cNvPr id="16" name="Text 13"/>
          <p:cNvSpPr txBox="1"/>
          <p:nvPr/>
        </p:nvSpPr>
        <p:spPr>
          <a:xfrm>
            <a:off x="594360" y="3081528"/>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1097280" y="2962656"/>
            <a:ext cx="3200400" cy="612648"/>
          </a:xfrm>
          <a:prstGeom prst="rect">
            <a:avLst/>
          </a:prstGeom>
          <a:noFill/>
          <a:ln/>
        </p:spPr>
        <p:txBody>
          <a:bodyPr wrap="square" lIns="508" tIns="508" rIns="508" bIns="508" rtlCol="0" anchor="ctr"/>
          <a:lstStyle/>
          <a:p>
            <a:pPr indent="0" marL="0">
              <a:buNone/>
            </a:pPr>
            <a:r>
              <a:rPr lang="en-US" sz="1300" dirty="0">
                <a:solidFill>
                  <a:srgbClr val="1F2D3A"/>
                </a:solidFill>
                <a:latin typeface="Calibri" pitchFamily="34" charset="0"/>
                <a:ea typeface="Calibri" pitchFamily="34" charset="-122"/>
                <a:cs typeface="Calibri" pitchFamily="34" charset="-120"/>
              </a:rPr>
              <a:t>Compare with analytic results; vary resolution</a:t>
            </a:r>
            <a:endParaRPr lang="en-US" sz="1300" dirty="0"/>
          </a:p>
        </p:txBody>
      </p:sp>
      <p:sp>
        <p:nvSpPr>
          <p:cNvPr id="18" name="Shape 15"/>
          <p:cNvSpPr/>
          <p:nvPr/>
        </p:nvSpPr>
        <p:spPr>
          <a:xfrm>
            <a:off x="2423160" y="3611880"/>
            <a:ext cx="0" cy="182880"/>
          </a:xfrm>
          <a:prstGeom prst="line">
            <a:avLst/>
          </a:prstGeom>
          <a:noFill/>
          <a:ln w="19050">
            <a:solidFill>
              <a:srgbClr val="6B7C8A"/>
            </a:solidFill>
            <a:prstDash val="solid"/>
            <a:tailEnd type="triangle"/>
          </a:ln>
        </p:spPr>
      </p:sp>
      <p:sp>
        <p:nvSpPr>
          <p:cNvPr id="19" name="Shape 16"/>
          <p:cNvSpPr/>
          <p:nvPr/>
        </p:nvSpPr>
        <p:spPr>
          <a:xfrm>
            <a:off x="457200" y="3794760"/>
            <a:ext cx="3931920" cy="685800"/>
          </a:xfrm>
          <a:prstGeom prst="roundRect">
            <a:avLst>
              <a:gd name="adj" fmla="val 10667"/>
            </a:avLst>
          </a:prstGeom>
          <a:solidFill>
            <a:srgbClr val="EAF2F6"/>
          </a:solidFill>
          <a:ln w="12700">
            <a:solidFill>
              <a:srgbClr val="EAF2F6"/>
            </a:solidFill>
            <a:prstDash val="solid"/>
          </a:ln>
        </p:spPr>
      </p:sp>
      <p:sp>
        <p:nvSpPr>
          <p:cNvPr id="20" name="Text 17"/>
          <p:cNvSpPr txBox="1"/>
          <p:nvPr/>
        </p:nvSpPr>
        <p:spPr>
          <a:xfrm>
            <a:off x="594360" y="3950208"/>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8"/>
          <p:cNvSpPr txBox="1"/>
          <p:nvPr/>
        </p:nvSpPr>
        <p:spPr>
          <a:xfrm>
            <a:off x="1097280" y="3831336"/>
            <a:ext cx="3200400" cy="612648"/>
          </a:xfrm>
          <a:prstGeom prst="rect">
            <a:avLst/>
          </a:prstGeom>
          <a:noFill/>
          <a:ln/>
        </p:spPr>
        <p:txBody>
          <a:bodyPr wrap="square" lIns="508" tIns="508" rIns="508" bIns="508" rtlCol="0" anchor="ctr"/>
          <a:lstStyle/>
          <a:p>
            <a:pPr indent="0" marL="0">
              <a:buNone/>
            </a:pPr>
            <a:r>
              <a:rPr lang="en-US" sz="1300" dirty="0">
                <a:solidFill>
                  <a:srgbClr val="1F2D3A"/>
                </a:solidFill>
                <a:latin typeface="Calibri" pitchFamily="34" charset="0"/>
                <a:ea typeface="Calibri" pitchFamily="34" charset="-122"/>
                <a:cs typeface="Calibri" pitchFamily="34" charset="-120"/>
              </a:rPr>
              <a:t>Save tables and figures to output/</a:t>
            </a:r>
            <a:endParaRPr lang="en-US" sz="1300" dirty="0"/>
          </a:p>
        </p:txBody>
      </p:sp>
      <p:sp>
        <p:nvSpPr>
          <p:cNvPr id="22" name="Shape 19"/>
          <p:cNvSpPr/>
          <p:nvPr/>
        </p:nvSpPr>
        <p:spPr>
          <a:xfrm>
            <a:off x="4663440" y="1188720"/>
            <a:ext cx="4023360" cy="3017520"/>
          </a:xfrm>
          <a:prstGeom prst="roundRect">
            <a:avLst>
              <a:gd name="adj" fmla="val 2424"/>
            </a:avLst>
          </a:prstGeom>
          <a:solidFill>
            <a:srgbClr val="0B2A3C"/>
          </a:solidFill>
          <a:ln w="12700">
            <a:solidFill>
              <a:srgbClr val="0B2A3C"/>
            </a:solidFill>
            <a:prstDash val="solid"/>
          </a:ln>
        </p:spPr>
      </p:sp>
      <p:sp>
        <p:nvSpPr>
          <p:cNvPr id="23" name="Text 20"/>
          <p:cNvSpPr txBox="1"/>
          <p:nvPr/>
        </p:nvSpPr>
        <p:spPr>
          <a:xfrm>
            <a:off x="4800600" y="1325880"/>
            <a:ext cx="3749040" cy="2743200"/>
          </a:xfrm>
          <a:prstGeom prst="rect">
            <a:avLst/>
          </a:prstGeom>
          <a:noFill/>
          <a:ln/>
        </p:spPr>
        <p:txBody>
          <a:bodyPr wrap="square" lIns="508" tIns="508" rIns="508" bIns="508"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read params.json</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for k in grid: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h = t1 + t2 * exp(i*k*a)</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E± = eigvalsh(2x2 matrix)</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gap = min(E+) - max(E-)</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H_chain = 2N x 2N, bonds t1, t2, t1,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E = eigvalsh(H_chain)</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compare with analytic; save to output/</a:t>
            </a:r>
            <a:endParaRPr lang="en-US" sz="1200" dirty="0"/>
          </a:p>
        </p:txBody>
      </p:sp>
      <p:sp>
        <p:nvSpPr>
          <p:cNvPr id="24" name="Text 21"/>
          <p:cNvSpPr txBox="1"/>
          <p:nvPr/>
        </p:nvSpPr>
        <p:spPr>
          <a:xfrm>
            <a:off x="4663440" y="4251960"/>
            <a:ext cx="4023360" cy="228600"/>
          </a:xfrm>
          <a:prstGeom prst="rect">
            <a:avLst/>
          </a:prstGeom>
          <a:noFill/>
          <a:ln/>
        </p:spPr>
        <p:txBody>
          <a:bodyPr wrap="square" lIns="508" tIns="508" rIns="508" bIns="508" rtlCol="0" anchor="t"/>
          <a:lstStyle/>
          <a:p>
            <a:pPr indent="0" marL="0">
              <a:buNone/>
            </a:pPr>
            <a:r>
              <a:rPr lang="en-US" sz="1000" dirty="0">
                <a:solidFill>
                  <a:srgbClr val="6B7C8A"/>
                </a:solidFill>
                <a:latin typeface="Calibri" pitchFamily="34" charset="0"/>
                <a:ea typeface="Calibri" pitchFamily="34" charset="-122"/>
                <a:cs typeface="Calibri" pitchFamily="34" charset="-120"/>
              </a:rPr>
              <a:t>pseudocode (the flow, not the exact code)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Result: the gap depends on t₁ − t₂</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E07A1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Results</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8</a:t>
            </a:r>
            <a:endParaRPr lang="en-US" sz="900" dirty="0"/>
          </a:p>
        </p:txBody>
      </p:sp>
      <p:pic>
        <p:nvPicPr>
          <p:cNvPr id="7" name="Image 0" descr="../midterm-tight-binding/output/figs/fig4_gap_vs_t2.png">    </p:cNvPr>
          <p:cNvPicPr>
            <a:picLocks noChangeAspect="1"/>
          </p:cNvPicPr>
          <p:nvPr/>
        </p:nvPicPr>
        <p:blipFill>
          <a:blip r:embed="rId1"/>
          <a:stretch>
            <a:fillRect/>
          </a:stretch>
        </p:blipFill>
        <p:spPr>
          <a:xfrm>
            <a:off x="457200" y="1143000"/>
            <a:ext cx="4206240" cy="2907792"/>
          </a:xfrm>
          <a:prstGeom prst="rect">
            <a:avLst/>
          </a:prstGeom>
        </p:spPr>
      </p:pic>
      <p:sp>
        <p:nvSpPr>
          <p:cNvPr id="8" name="Text 4"/>
          <p:cNvSpPr txBox="1"/>
          <p:nvPr/>
        </p:nvSpPr>
        <p:spPr>
          <a:xfrm>
            <a:off x="457200" y="4114800"/>
            <a:ext cx="4206240" cy="457200"/>
          </a:xfrm>
          <a:prstGeom prst="rect">
            <a:avLst/>
          </a:prstGeom>
          <a:noFill/>
          <a:ln/>
        </p:spPr>
        <p:txBody>
          <a:bodyPr wrap="square" lIns="508" tIns="508" rIns="508" bIns="508" rtlCol="0" anchor="t"/>
          <a:lstStyle/>
          <a:p>
            <a:pPr indent="0" marL="0">
              <a:buNone/>
            </a:pPr>
            <a:r>
              <a:rPr lang="en-US" sz="1050" dirty="0">
                <a:solidFill>
                  <a:srgbClr val="6B7C8A"/>
                </a:solidFill>
                <a:latin typeface="Calibri" pitchFamily="34" charset="0"/>
                <a:ea typeface="Calibri" pitchFamily="34" charset="-122"/>
                <a:cs typeface="Calibri" pitchFamily="34" charset="-120"/>
              </a:rPr>
              <a:t>Gap vs t₂ (t₁ = 1): dots = diagonalization, gray = 2|t₁ − t₂|</a:t>
            </a:r>
            <a:endParaRPr lang="en-US" sz="1050" dirty="0"/>
          </a:p>
        </p:txBody>
      </p:sp>
      <p:pic>
        <p:nvPicPr>
          <p:cNvPr id="9" name="Image 1" descr="../midterm-tight-binding/output/figs/fig3_bands_compare.png">    </p:cNvPr>
          <p:cNvPicPr>
            <a:picLocks noChangeAspect="1"/>
          </p:cNvPicPr>
          <p:nvPr/>
        </p:nvPicPr>
        <p:blipFill>
          <a:blip r:embed="rId2"/>
          <a:stretch>
            <a:fillRect/>
          </a:stretch>
        </p:blipFill>
        <p:spPr>
          <a:xfrm>
            <a:off x="4846320" y="1143000"/>
            <a:ext cx="3840480" cy="1490472"/>
          </a:xfrm>
          <a:prstGeom prst="rect">
            <a:avLst/>
          </a:prstGeom>
        </p:spPr>
      </p:pic>
      <p:sp>
        <p:nvSpPr>
          <p:cNvPr id="10" name="Text 5"/>
          <p:cNvSpPr txBox="1"/>
          <p:nvPr/>
        </p:nvSpPr>
        <p:spPr>
          <a:xfrm>
            <a:off x="4846320" y="2651760"/>
            <a:ext cx="3840480" cy="274320"/>
          </a:xfrm>
          <a:prstGeom prst="rect">
            <a:avLst/>
          </a:prstGeom>
          <a:noFill/>
          <a:ln/>
        </p:spPr>
        <p:txBody>
          <a:bodyPr wrap="square" lIns="508" tIns="508" rIns="508" bIns="508" rtlCol="0" anchor="t"/>
          <a:lstStyle/>
          <a:p>
            <a:pPr indent="0" marL="0">
              <a:buNone/>
            </a:pPr>
            <a:r>
              <a:rPr lang="en-US" sz="1050" dirty="0">
                <a:solidFill>
                  <a:srgbClr val="6B7C8A"/>
                </a:solidFill>
                <a:latin typeface="Calibri" pitchFamily="34" charset="0"/>
                <a:ea typeface="Calibri" pitchFamily="34" charset="-122"/>
                <a:cs typeface="Calibri" pitchFamily="34" charset="-120"/>
              </a:rPr>
              <a:t>Bands for (t₁, t₂) = (1, 0.5) and (0.5, 1): same shape</a:t>
            </a:r>
            <a:endParaRPr lang="en-US" sz="1050" dirty="0"/>
          </a:p>
        </p:txBody>
      </p:sp>
      <p:sp>
        <p:nvSpPr>
          <p:cNvPr id="11" name="Shape 6"/>
          <p:cNvSpPr/>
          <p:nvPr/>
        </p:nvSpPr>
        <p:spPr>
          <a:xfrm>
            <a:off x="4846320" y="3063240"/>
            <a:ext cx="1188720" cy="1371600"/>
          </a:xfrm>
          <a:prstGeom prst="roundRect">
            <a:avLst>
              <a:gd name="adj" fmla="val 6154"/>
            </a:avLst>
          </a:prstGeom>
          <a:solidFill>
            <a:srgbClr val="EAF2F6"/>
          </a:solidFill>
          <a:ln w="12700">
            <a:solidFill>
              <a:srgbClr val="EAF2F6"/>
            </a:solidFill>
            <a:prstDash val="solid"/>
          </a:ln>
        </p:spPr>
      </p:sp>
      <p:sp>
        <p:nvSpPr>
          <p:cNvPr id="12" name="Text 7"/>
          <p:cNvSpPr txBox="1"/>
          <p:nvPr/>
        </p:nvSpPr>
        <p:spPr>
          <a:xfrm>
            <a:off x="4873752" y="3154680"/>
            <a:ext cx="1133856" cy="731520"/>
          </a:xfrm>
          <a:prstGeom prst="rect">
            <a:avLst/>
          </a:prstGeom>
          <a:noFill/>
          <a:ln/>
        </p:spPr>
        <p:txBody>
          <a:bodyPr wrap="square" lIns="508" tIns="508" rIns="508" bIns="508" rtlCol="0" anchor="ctr"/>
          <a:lstStyle/>
          <a:p>
            <a:pPr algn="ctr" indent="0" marL="0">
              <a:buNone/>
            </a:pPr>
            <a:r>
              <a:rPr lang="en-US" sz="1600" b="1" dirty="0">
                <a:solidFill>
                  <a:srgbClr val="0B2A3C"/>
                </a:solidFill>
                <a:latin typeface="Cambria" pitchFamily="34" charset="0"/>
                <a:ea typeface="Cambria" pitchFamily="34" charset="-122"/>
                <a:cs typeface="Cambria" pitchFamily="34" charset="-120"/>
              </a:rPr>
              <a:t>2|t₁ − t₂|</a:t>
            </a:r>
            <a:endParaRPr lang="en-US" sz="1600" dirty="0"/>
          </a:p>
        </p:txBody>
      </p:sp>
      <p:sp>
        <p:nvSpPr>
          <p:cNvPr id="13" name="Text 8"/>
          <p:cNvSpPr txBox="1"/>
          <p:nvPr/>
        </p:nvSpPr>
        <p:spPr>
          <a:xfrm>
            <a:off x="4873752" y="3931920"/>
            <a:ext cx="1133856" cy="365760"/>
          </a:xfrm>
          <a:prstGeom prst="rect">
            <a:avLst/>
          </a:prstGeom>
          <a:noFill/>
          <a:ln/>
        </p:spPr>
        <p:txBody>
          <a:bodyPr wrap="square" lIns="508" tIns="508" rIns="508" bIns="508" rtlCol="0" anchor="t"/>
          <a:lstStyle/>
          <a:p>
            <a:pPr algn="ctr" indent="0" marL="0">
              <a:buNone/>
            </a:pPr>
            <a:r>
              <a:rPr lang="en-US" sz="1100" dirty="0">
                <a:solidFill>
                  <a:srgbClr val="6B7C8A"/>
                </a:solidFill>
                <a:latin typeface="Calibri" pitchFamily="34" charset="0"/>
                <a:ea typeface="Calibri" pitchFamily="34" charset="-122"/>
                <a:cs typeface="Calibri" pitchFamily="34" charset="-120"/>
              </a:rPr>
              <a:t>gap</a:t>
            </a:r>
            <a:endParaRPr lang="en-US" sz="1100" dirty="0"/>
          </a:p>
        </p:txBody>
      </p:sp>
      <p:sp>
        <p:nvSpPr>
          <p:cNvPr id="14" name="Shape 9"/>
          <p:cNvSpPr/>
          <p:nvPr/>
        </p:nvSpPr>
        <p:spPr>
          <a:xfrm>
            <a:off x="6172200" y="3063240"/>
            <a:ext cx="1188720" cy="1371600"/>
          </a:xfrm>
          <a:prstGeom prst="roundRect">
            <a:avLst>
              <a:gd name="adj" fmla="val 6154"/>
            </a:avLst>
          </a:prstGeom>
          <a:solidFill>
            <a:srgbClr val="EAF2F6"/>
          </a:solidFill>
          <a:ln w="12700">
            <a:solidFill>
              <a:srgbClr val="EAF2F6"/>
            </a:solidFill>
            <a:prstDash val="solid"/>
          </a:ln>
        </p:spPr>
      </p:sp>
      <p:sp>
        <p:nvSpPr>
          <p:cNvPr id="15" name="Text 10"/>
          <p:cNvSpPr txBox="1"/>
          <p:nvPr/>
        </p:nvSpPr>
        <p:spPr>
          <a:xfrm>
            <a:off x="6199632" y="3154680"/>
            <a:ext cx="1133856" cy="731520"/>
          </a:xfrm>
          <a:prstGeom prst="rect">
            <a:avLst/>
          </a:prstGeom>
          <a:noFill/>
          <a:ln/>
        </p:spPr>
        <p:txBody>
          <a:bodyPr wrap="square" lIns="508" tIns="508" rIns="508" bIns="508" rtlCol="0" anchor="ctr"/>
          <a:lstStyle/>
          <a:p>
            <a:pPr algn="ctr" indent="0" marL="0">
              <a:buNone/>
            </a:pPr>
            <a:r>
              <a:rPr lang="en-US" sz="1600" b="1" dirty="0">
                <a:solidFill>
                  <a:srgbClr val="0B2A3C"/>
                </a:solidFill>
                <a:latin typeface="Cambria" pitchFamily="34" charset="0"/>
                <a:ea typeface="Cambria" pitchFamily="34" charset="-122"/>
                <a:cs typeface="Cambria" pitchFamily="34" charset="-120"/>
              </a:rPr>
              <a:t>t₂ = t₁</a:t>
            </a:r>
            <a:endParaRPr lang="en-US" sz="1600" dirty="0"/>
          </a:p>
        </p:txBody>
      </p:sp>
      <p:sp>
        <p:nvSpPr>
          <p:cNvPr id="16" name="Text 11"/>
          <p:cNvSpPr txBox="1"/>
          <p:nvPr/>
        </p:nvSpPr>
        <p:spPr>
          <a:xfrm>
            <a:off x="6199632" y="3931920"/>
            <a:ext cx="1133856" cy="365760"/>
          </a:xfrm>
          <a:prstGeom prst="rect">
            <a:avLst/>
          </a:prstGeom>
          <a:noFill/>
          <a:ln/>
        </p:spPr>
        <p:txBody>
          <a:bodyPr wrap="square" lIns="508" tIns="508" rIns="508" bIns="508" rtlCol="0" anchor="t"/>
          <a:lstStyle/>
          <a:p>
            <a:pPr algn="ctr" indent="0" marL="0">
              <a:buNone/>
            </a:pPr>
            <a:r>
              <a:rPr lang="en-US" sz="1100" dirty="0">
                <a:solidFill>
                  <a:srgbClr val="6B7C8A"/>
                </a:solidFill>
                <a:latin typeface="Calibri" pitchFamily="34" charset="0"/>
                <a:ea typeface="Calibri" pitchFamily="34" charset="-122"/>
                <a:cs typeface="Calibri" pitchFamily="34" charset="-120"/>
              </a:rPr>
              <a:t>gap closes</a:t>
            </a:r>
            <a:endParaRPr lang="en-US" sz="1100" dirty="0"/>
          </a:p>
        </p:txBody>
      </p:sp>
      <p:sp>
        <p:nvSpPr>
          <p:cNvPr id="17" name="Shape 12"/>
          <p:cNvSpPr/>
          <p:nvPr/>
        </p:nvSpPr>
        <p:spPr>
          <a:xfrm>
            <a:off x="7498080" y="3063240"/>
            <a:ext cx="1188720" cy="1371600"/>
          </a:xfrm>
          <a:prstGeom prst="roundRect">
            <a:avLst>
              <a:gd name="adj" fmla="val 6154"/>
            </a:avLst>
          </a:prstGeom>
          <a:solidFill>
            <a:srgbClr val="EAF2F6"/>
          </a:solidFill>
          <a:ln w="12700">
            <a:solidFill>
              <a:srgbClr val="EAF2F6"/>
            </a:solidFill>
            <a:prstDash val="solid"/>
          </a:ln>
        </p:spPr>
      </p:sp>
      <p:sp>
        <p:nvSpPr>
          <p:cNvPr id="18" name="Text 13"/>
          <p:cNvSpPr txBox="1"/>
          <p:nvPr/>
        </p:nvSpPr>
        <p:spPr>
          <a:xfrm>
            <a:off x="7525512" y="3154680"/>
            <a:ext cx="1133856" cy="731520"/>
          </a:xfrm>
          <a:prstGeom prst="rect">
            <a:avLst/>
          </a:prstGeom>
          <a:noFill/>
          <a:ln/>
        </p:spPr>
        <p:txBody>
          <a:bodyPr wrap="square" lIns="508" tIns="508" rIns="508" bIns="508" rtlCol="0" anchor="ctr"/>
          <a:lstStyle/>
          <a:p>
            <a:pPr algn="ctr" indent="0" marL="0">
              <a:buNone/>
            </a:pPr>
            <a:r>
              <a:rPr lang="en-US" sz="1200" b="1" dirty="0">
                <a:solidFill>
                  <a:srgbClr val="0B2A3C"/>
                </a:solidFill>
                <a:latin typeface="Cambria" pitchFamily="34" charset="0"/>
                <a:ea typeface="Cambria" pitchFamily="34" charset="-122"/>
                <a:cs typeface="Cambria" pitchFamily="34" charset="-120"/>
              </a:rPr>
              <a:t>(1, 0.5) ≡ (0.5, 1)</a:t>
            </a:r>
            <a:endParaRPr lang="en-US" sz="1200" dirty="0"/>
          </a:p>
        </p:txBody>
      </p:sp>
      <p:sp>
        <p:nvSpPr>
          <p:cNvPr id="19" name="Text 14"/>
          <p:cNvSpPr txBox="1"/>
          <p:nvPr/>
        </p:nvSpPr>
        <p:spPr>
          <a:xfrm>
            <a:off x="7525512" y="3931920"/>
            <a:ext cx="1133856" cy="365760"/>
          </a:xfrm>
          <a:prstGeom prst="rect">
            <a:avLst/>
          </a:prstGeom>
          <a:noFill/>
          <a:ln/>
        </p:spPr>
        <p:txBody>
          <a:bodyPr wrap="square" lIns="508" tIns="508" rIns="508" bIns="508" rtlCol="0" anchor="t"/>
          <a:lstStyle/>
          <a:p>
            <a:pPr algn="ctr" indent="0" marL="0">
              <a:buNone/>
            </a:pPr>
            <a:r>
              <a:rPr lang="en-US" sz="1100" dirty="0">
                <a:solidFill>
                  <a:srgbClr val="6B7C8A"/>
                </a:solidFill>
                <a:latin typeface="Calibri" pitchFamily="34" charset="0"/>
                <a:ea typeface="Calibri" pitchFamily="34" charset="-122"/>
                <a:cs typeface="Calibri" pitchFamily="34" charset="-120"/>
              </a:rPr>
              <a:t>same bands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Validation: analytic comparison and limits</a:t>
            </a:r>
            <a:endParaRPr lang="en-US" sz="2200" dirty="0"/>
          </a:p>
        </p:txBody>
      </p:sp>
      <p:sp>
        <p:nvSpPr>
          <p:cNvPr id="3" name="Text 1"/>
          <p:cNvSpPr txBox="1"/>
          <p:nvPr/>
        </p:nvSpPr>
        <p:spPr>
          <a:xfrm>
            <a:off x="7406640" y="384048"/>
            <a:ext cx="1280160" cy="274320"/>
          </a:xfrm>
          <a:prstGeom prst="roundRect">
            <a:avLst>
              <a:gd name="adj" fmla="val 50000"/>
            </a:avLst>
          </a:prstGeom>
          <a:solidFill>
            <a:srgbClr val="E07A1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Results</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9</a:t>
            </a:r>
            <a:endParaRPr lang="en-US" sz="900" dirty="0"/>
          </a:p>
        </p:txBody>
      </p:sp>
      <p:pic>
        <p:nvPicPr>
          <p:cNvPr id="7" name="Image 0" descr="../midterm-tight-binding/output/figs/fig2_ring_check.png">    </p:cNvPr>
          <p:cNvPicPr>
            <a:picLocks noChangeAspect="1"/>
          </p:cNvPicPr>
          <p:nvPr/>
        </p:nvPicPr>
        <p:blipFill>
          <a:blip r:embed="rId1"/>
          <a:stretch>
            <a:fillRect/>
          </a:stretch>
        </p:blipFill>
        <p:spPr>
          <a:xfrm>
            <a:off x="457200" y="1143000"/>
            <a:ext cx="3840480" cy="2651760"/>
          </a:xfrm>
          <a:prstGeom prst="rect">
            <a:avLst/>
          </a:prstGeom>
        </p:spPr>
      </p:pic>
      <p:sp>
        <p:nvSpPr>
          <p:cNvPr id="8" name="Text 4"/>
          <p:cNvSpPr txBox="1"/>
          <p:nvPr/>
        </p:nvSpPr>
        <p:spPr>
          <a:xfrm>
            <a:off x="457200" y="3840480"/>
            <a:ext cx="3840480" cy="457200"/>
          </a:xfrm>
          <a:prstGeom prst="rect">
            <a:avLst/>
          </a:prstGeom>
          <a:noFill/>
          <a:ln/>
        </p:spPr>
        <p:txBody>
          <a:bodyPr wrap="square" lIns="508" tIns="508" rIns="508" bIns="508" rtlCol="0" anchor="t"/>
          <a:lstStyle/>
          <a:p>
            <a:pPr indent="0" marL="0">
              <a:buNone/>
            </a:pPr>
            <a:r>
              <a:rPr lang="en-US" sz="1050" dirty="0">
                <a:solidFill>
                  <a:srgbClr val="6B7C8A"/>
                </a:solidFill>
                <a:latin typeface="Calibri" pitchFamily="34" charset="0"/>
                <a:ea typeface="Calibri" pitchFamily="34" charset="-122"/>
                <a:cs typeface="Calibri" pitchFamily="34" charset="-120"/>
              </a:rPr>
              <a:t>Gray: analytic E(k). ×: diagonalization of a 20-atom ring.</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0" y="1188720"/>
          <a:ext cx="4114800" cy="914400"/>
        </p:xfrm>
        <a:graphic>
          <a:graphicData uri="http://schemas.openxmlformats.org/drawingml/2006/table">
            <a:tbl>
              <a:tblPr/>
              <a:tblGrid>
                <a:gridCol w="2377440"/>
                <a:gridCol w="1737360"/>
              </a:tblGrid>
              <a:tr h="3200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45720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Ring (N = 20) vs analytic E(k)</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1.1×10⁻¹⁵</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45720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SSH 2×2 vs ±|h(k)|</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2.2×10⁻¹⁶</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45720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Gap vs 2|t₁ − t₂|</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2.4×10⁻¹⁶</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t₁ = t₂: SSH ring vs monatomic ring</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difference 0</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45720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t₂ → 0: dimers only</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all |E| = t₁</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94360">
                <a:tc>
                  <a:txBody>
                    <a:bodyPr/>
                    <a:lstStyle/>
                    <a:p>
                      <a:pPr indent="0" marL="0">
                        <a:buNone/>
                      </a:pPr>
                      <a:r>
                        <a:rPr lang="en-US" sz="1100" dirty="0">
                          <a:solidFill>
                            <a:srgbClr val="1F2D3A"/>
                          </a:solidFill>
                          <a:latin typeface="Calibri" pitchFamily="34" charset="0"/>
                          <a:ea typeface="Calibri" pitchFamily="34" charset="-122"/>
                          <a:cs typeface="Calibri" pitchFamily="34" charset="-120"/>
                        </a:rPr>
                        <a:t>t₁ → 0: end atoms decouple</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100" b="1" dirty="0">
                          <a:solidFill>
                            <a:srgbClr val="0B2A3C"/>
                          </a:solidFill>
                          <a:latin typeface="Calibri" pitchFamily="34" charset="0"/>
                          <a:ea typeface="Calibri" pitchFamily="34" charset="-122"/>
                          <a:cs typeface="Calibri" pitchFamily="34" charset="-120"/>
                        </a:rPr>
                        <a:t>two E = 0 states, end-site weight 1.000</a:t>
                      </a:r>
                      <a:endParaRPr lang="en-US" sz="11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
        <p:nvSpPr>
          <p:cNvPr id="10" name="Text 5"/>
          <p:cNvSpPr txBox="1"/>
          <p:nvPr/>
        </p:nvSpPr>
        <p:spPr>
          <a:xfrm>
            <a:off x="457200" y="4251960"/>
            <a:ext cx="3840480" cy="457200"/>
          </a:xfrm>
          <a:prstGeom prst="rect">
            <a:avLst/>
          </a:prstGeom>
          <a:noFill/>
          <a:ln/>
        </p:spPr>
        <p:txBody>
          <a:bodyPr wrap="square" lIns="508" tIns="508" rIns="508" bIns="508" rtlCol="0" anchor="t"/>
          <a:lstStyle/>
          <a:p>
            <a:pPr indent="0" marL="0">
              <a:buNone/>
            </a:pPr>
            <a:r>
              <a:rPr lang="en-US" sz="1100" dirty="0">
                <a:solidFill>
                  <a:srgbClr val="0B2A3C"/>
                </a:solidFill>
                <a:latin typeface="Calibri" pitchFamily="34" charset="0"/>
                <a:ea typeface="Calibri" pitchFamily="34" charset="-122"/>
                <a:cs typeface="Calibri" pitchFamily="34" charset="-120"/>
              </a:rPr>
              <a:t>The checks show the code solves the model correctly, not that the model matches a real material.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Numerical resolution and sampling</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E07A1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Results</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10</a:t>
            </a:r>
            <a:endParaRPr lang="en-US" sz="900" dirty="0"/>
          </a:p>
        </p:txBody>
      </p:sp>
      <p:pic>
        <p:nvPicPr>
          <p:cNvPr id="7" name="Image 0" descr="../midterm-tight-binding/output/figs/fig8_resolution.png">    </p:cNvPr>
          <p:cNvPicPr>
            <a:picLocks noChangeAspect="1"/>
          </p:cNvPicPr>
          <p:nvPr/>
        </p:nvPicPr>
        <p:blipFill>
          <a:blip r:embed="rId1"/>
          <a:stretch>
            <a:fillRect/>
          </a:stretch>
        </p:blipFill>
        <p:spPr>
          <a:xfrm>
            <a:off x="457200" y="1097280"/>
            <a:ext cx="8229600" cy="2231136"/>
          </a:xfrm>
          <a:prstGeom prst="rect">
            <a:avLst/>
          </a:prstGeom>
        </p:spPr>
      </p:pic>
      <p:sp>
        <p:nvSpPr>
          <p:cNvPr id="8" name="Shape 4"/>
          <p:cNvSpPr/>
          <p:nvPr/>
        </p:nvSpPr>
        <p:spPr>
          <a:xfrm>
            <a:off x="457200" y="3474720"/>
            <a:ext cx="2651760" cy="868680"/>
          </a:xfrm>
          <a:prstGeom prst="roundRect">
            <a:avLst>
              <a:gd name="adj" fmla="val 8421"/>
            </a:avLst>
          </a:prstGeom>
          <a:solidFill>
            <a:srgbClr val="EAF2F6"/>
          </a:solidFill>
          <a:ln w="12700">
            <a:solidFill>
              <a:srgbClr val="EAF2F6"/>
            </a:solidFill>
            <a:prstDash val="solid"/>
          </a:ln>
        </p:spPr>
      </p:sp>
      <p:sp>
        <p:nvSpPr>
          <p:cNvPr id="9" name="Text 5"/>
          <p:cNvSpPr txBox="1"/>
          <p:nvPr/>
        </p:nvSpPr>
        <p:spPr>
          <a:xfrm>
            <a:off x="530352" y="3502152"/>
            <a:ext cx="2514600" cy="822960"/>
          </a:xfrm>
          <a:prstGeom prst="rect">
            <a:avLst/>
          </a:prstGeom>
          <a:noFill/>
          <a:ln/>
        </p:spPr>
        <p:txBody>
          <a:bodyPr wrap="square" lIns="508" tIns="508" rIns="508" bIns="508" rtlCol="0" anchor="ctr"/>
          <a:lstStyle/>
          <a:p>
            <a:pPr indent="0" marL="0">
              <a:buNone/>
            </a:pPr>
            <a:r>
              <a:rPr lang="en-US" sz="1100" dirty="0">
                <a:solidFill>
                  <a:srgbClr val="1F2D3A"/>
                </a:solidFill>
                <a:latin typeface="Calibri" pitchFamily="34" charset="0"/>
                <a:ea typeface="Calibri" pitchFamily="34" charset="-122"/>
                <a:cs typeface="Calibri" pitchFamily="34" charset="-120"/>
              </a:rPr>
              <a:t>k grid: even N_k hits k = π, error 0; odd N_k skips it (t₂ = 0.5, N_k = 17: +0.033)</a:t>
            </a:r>
            <a:endParaRPr lang="en-US" sz="1100" dirty="0"/>
          </a:p>
        </p:txBody>
      </p:sp>
      <p:sp>
        <p:nvSpPr>
          <p:cNvPr id="10" name="Shape 6"/>
          <p:cNvSpPr/>
          <p:nvPr/>
        </p:nvSpPr>
        <p:spPr>
          <a:xfrm>
            <a:off x="3246120" y="3474720"/>
            <a:ext cx="2651760" cy="868680"/>
          </a:xfrm>
          <a:prstGeom prst="roundRect">
            <a:avLst>
              <a:gd name="adj" fmla="val 8421"/>
            </a:avLst>
          </a:prstGeom>
          <a:solidFill>
            <a:srgbClr val="EAF2F6"/>
          </a:solidFill>
          <a:ln w="12700">
            <a:solidFill>
              <a:srgbClr val="EAF2F6"/>
            </a:solidFill>
            <a:prstDash val="solid"/>
          </a:ln>
        </p:spPr>
      </p:sp>
      <p:sp>
        <p:nvSpPr>
          <p:cNvPr id="11" name="Text 7"/>
          <p:cNvSpPr txBox="1"/>
          <p:nvPr/>
        </p:nvSpPr>
        <p:spPr>
          <a:xfrm>
            <a:off x="3319272" y="3502152"/>
            <a:ext cx="2514600" cy="822960"/>
          </a:xfrm>
          <a:prstGeom prst="rect">
            <a:avLst/>
          </a:prstGeom>
          <a:noFill/>
          <a:ln/>
        </p:spPr>
        <p:txBody>
          <a:bodyPr wrap="square" lIns="508" tIns="508" rIns="508" bIns="508" rtlCol="0" anchor="ctr"/>
          <a:lstStyle/>
          <a:p>
            <a:pPr indent="0" marL="0">
              <a:buNone/>
            </a:pPr>
            <a:r>
              <a:rPr lang="en-US" sz="1100" dirty="0">
                <a:solidFill>
                  <a:srgbClr val="1F2D3A"/>
                </a:solidFill>
                <a:latin typeface="Calibri" pitchFamily="34" charset="0"/>
                <a:ea typeface="Calibri" pitchFamily="34" charset="-122"/>
                <a:cs typeface="Calibri" pitchFamily="34" charset="-120"/>
              </a:rPr>
              <a:t>Ring size: odd N misses the band top by 2t(1 − cos π/N)</a:t>
            </a:r>
            <a:endParaRPr lang="en-US" sz="1100" dirty="0"/>
          </a:p>
        </p:txBody>
      </p:sp>
      <p:sp>
        <p:nvSpPr>
          <p:cNvPr id="12" name="Shape 8"/>
          <p:cNvSpPr/>
          <p:nvPr/>
        </p:nvSpPr>
        <p:spPr>
          <a:xfrm>
            <a:off x="6035040" y="3474720"/>
            <a:ext cx="2651760" cy="868680"/>
          </a:xfrm>
          <a:prstGeom prst="roundRect">
            <a:avLst>
              <a:gd name="adj" fmla="val 8421"/>
            </a:avLst>
          </a:prstGeom>
          <a:solidFill>
            <a:srgbClr val="EAF2F6"/>
          </a:solidFill>
          <a:ln w="12700">
            <a:solidFill>
              <a:srgbClr val="EAF2F6"/>
            </a:solidFill>
            <a:prstDash val="solid"/>
          </a:ln>
        </p:spPr>
      </p:sp>
      <p:sp>
        <p:nvSpPr>
          <p:cNvPr id="13" name="Text 9"/>
          <p:cNvSpPr txBox="1"/>
          <p:nvPr/>
        </p:nvSpPr>
        <p:spPr>
          <a:xfrm>
            <a:off x="6108192" y="3502152"/>
            <a:ext cx="2514600" cy="822960"/>
          </a:xfrm>
          <a:prstGeom prst="rect">
            <a:avLst/>
          </a:prstGeom>
          <a:noFill/>
          <a:ln/>
        </p:spPr>
        <p:txBody>
          <a:bodyPr wrap="square" lIns="508" tIns="508" rIns="508" bIns="508" rtlCol="0" anchor="ctr"/>
          <a:lstStyle/>
          <a:p>
            <a:pPr indent="0" marL="0">
              <a:buNone/>
            </a:pPr>
            <a:r>
              <a:rPr lang="en-US" sz="1100" dirty="0">
                <a:solidFill>
                  <a:srgbClr val="1F2D3A"/>
                </a:solidFill>
                <a:latin typeface="Calibri" pitchFamily="34" charset="0"/>
                <a:ea typeface="Calibri" pitchFamily="34" charset="-122"/>
                <a:cs typeface="Calibri" pitchFamily="34" charset="-120"/>
              </a:rPr>
              <a:t>Chain length: 0.033, 0.010, 0.0028 at N_c = 10, 20, 40, so error ∝ 1/N_c²</a:t>
            </a:r>
            <a:endParaRPr lang="en-US" sz="1100" dirty="0"/>
          </a:p>
        </p:txBody>
      </p:sp>
      <p:sp>
        <p:nvSpPr>
          <p:cNvPr id="14" name="Text 10"/>
          <p:cNvSpPr txBox="1"/>
          <p:nvPr/>
        </p:nvSpPr>
        <p:spPr>
          <a:xfrm>
            <a:off x="457200" y="4407408"/>
            <a:ext cx="8229600" cy="274320"/>
          </a:xfrm>
          <a:prstGeom prst="rect">
            <a:avLst/>
          </a:prstGeom>
          <a:noFill/>
          <a:ln/>
        </p:spPr>
        <p:txBody>
          <a:bodyPr wrap="square" lIns="508" tIns="508" rIns="508" bIns="508" rtlCol="0" anchor="t"/>
          <a:lstStyle/>
          <a:p>
            <a:pPr indent="0" marL="0">
              <a:buNone/>
            </a:pPr>
            <a:r>
              <a:rPr lang="en-US" sz="1200" b="1" dirty="0">
                <a:solidFill>
                  <a:srgbClr val="0B2A3C"/>
                </a:solidFill>
                <a:latin typeface="Calibri" pitchFamily="34" charset="0"/>
                <a:ea typeface="Calibri" pitchFamily="34" charset="-122"/>
                <a:cs typeface="Calibri" pitchFamily="34" charset="-120"/>
              </a:rPr>
              <a:t>Sampling: not applicable. The calculation is deterministic (uncertainty ≈ machine precision).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Interpretation: why the gap opens</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2E8B6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Interpretation</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11</a:t>
            </a:r>
            <a:endParaRPr lang="en-US" sz="900" dirty="0"/>
          </a:p>
        </p:txBody>
      </p:sp>
      <p:pic>
        <p:nvPicPr>
          <p:cNvPr id="7" name="Image 0" descr="fig_folding.png">    </p:cNvPr>
          <p:cNvPicPr>
            <a:picLocks noChangeAspect="1"/>
          </p:cNvPicPr>
          <p:nvPr/>
        </p:nvPicPr>
        <p:blipFill>
          <a:blip r:embed="rId1"/>
          <a:stretch>
            <a:fillRect/>
          </a:stretch>
        </p:blipFill>
        <p:spPr>
          <a:xfrm>
            <a:off x="731520" y="1051560"/>
            <a:ext cx="7680960" cy="2697480"/>
          </a:xfrm>
          <a:prstGeom prst="rect">
            <a:avLst/>
          </a:prstGeom>
        </p:spPr>
      </p:pic>
      <p:sp>
        <p:nvSpPr>
          <p:cNvPr id="8" name="Shape 4"/>
          <p:cNvSpPr/>
          <p:nvPr/>
        </p:nvSpPr>
        <p:spPr>
          <a:xfrm>
            <a:off x="457200" y="3840480"/>
            <a:ext cx="2651760" cy="822960"/>
          </a:xfrm>
          <a:prstGeom prst="roundRect">
            <a:avLst>
              <a:gd name="adj" fmla="val 8889"/>
            </a:avLst>
          </a:prstGeom>
          <a:solidFill>
            <a:srgbClr val="EAF2F6"/>
          </a:solidFill>
          <a:ln w="12700">
            <a:solidFill>
              <a:srgbClr val="EAF2F6"/>
            </a:solidFill>
            <a:prstDash val="solid"/>
          </a:ln>
        </p:spPr>
      </p:sp>
      <p:sp>
        <p:nvSpPr>
          <p:cNvPr id="9" name="Text 5"/>
          <p:cNvSpPr txBox="1"/>
          <p:nvPr/>
        </p:nvSpPr>
        <p:spPr>
          <a:xfrm>
            <a:off x="530352" y="3858768"/>
            <a:ext cx="2514600" cy="786384"/>
          </a:xfrm>
          <a:prstGeom prst="rect">
            <a:avLst/>
          </a:prstGeom>
          <a:noFill/>
          <a:ln/>
        </p:spPr>
        <p:txBody>
          <a:bodyPr wrap="square" lIns="508" tIns="508" rIns="508" bIns="508" rtlCol="0" anchor="ctr"/>
          <a:lstStyle/>
          <a:p>
            <a:pPr indent="0" marL="0">
              <a:buNone/>
            </a:pPr>
            <a:r>
              <a:rPr lang="en-US" sz="1050" dirty="0">
                <a:solidFill>
                  <a:srgbClr val="1F2D3A"/>
                </a:solidFill>
                <a:latin typeface="Calibri" pitchFamily="34" charset="0"/>
                <a:ea typeface="Calibri" pitchFamily="34" charset="-122"/>
                <a:cs typeface="Calibri" pitchFamily="34" charset="-120"/>
              </a:rPr>
              <a:t>Uniform chain, cell = 2 atoms: the zone halves, the band folds and touches at k = π/a</a:t>
            </a:r>
            <a:endParaRPr lang="en-US" sz="1050" dirty="0"/>
          </a:p>
        </p:txBody>
      </p:sp>
      <p:sp>
        <p:nvSpPr>
          <p:cNvPr id="10" name="Shape 6"/>
          <p:cNvSpPr/>
          <p:nvPr/>
        </p:nvSpPr>
        <p:spPr>
          <a:xfrm>
            <a:off x="3246120" y="3840480"/>
            <a:ext cx="2651760" cy="822960"/>
          </a:xfrm>
          <a:prstGeom prst="roundRect">
            <a:avLst>
              <a:gd name="adj" fmla="val 8889"/>
            </a:avLst>
          </a:prstGeom>
          <a:solidFill>
            <a:srgbClr val="EAF2F6"/>
          </a:solidFill>
          <a:ln w="12700">
            <a:solidFill>
              <a:srgbClr val="EAF2F6"/>
            </a:solidFill>
            <a:prstDash val="solid"/>
          </a:ln>
        </p:spPr>
      </p:sp>
      <p:sp>
        <p:nvSpPr>
          <p:cNvPr id="11" name="Text 7"/>
          <p:cNvSpPr txBox="1"/>
          <p:nvPr/>
        </p:nvSpPr>
        <p:spPr>
          <a:xfrm>
            <a:off x="3319272" y="3858768"/>
            <a:ext cx="2514600" cy="786384"/>
          </a:xfrm>
          <a:prstGeom prst="rect">
            <a:avLst/>
          </a:prstGeom>
          <a:noFill/>
          <a:ln/>
        </p:spPr>
        <p:txBody>
          <a:bodyPr wrap="square" lIns="508" tIns="508" rIns="508" bIns="508" rtlCol="0" anchor="ctr"/>
          <a:lstStyle/>
          <a:p>
            <a:pPr indent="0" marL="0">
              <a:buNone/>
            </a:pPr>
            <a:r>
              <a:rPr lang="en-US" sz="1050" dirty="0">
                <a:solidFill>
                  <a:srgbClr val="1F2D3A"/>
                </a:solidFill>
                <a:latin typeface="Calibri" pitchFamily="34" charset="0"/>
                <a:ea typeface="Calibri" pitchFamily="34" charset="-122"/>
                <a:cs typeface="Calibri" pitchFamily="34" charset="-120"/>
              </a:rPr>
              <a:t>t₁ ≠ t₂ doubles the period: the crossing splits, gap = 2|t₁ − t₂| (0.8 for 1.2, 0.8)</a:t>
            </a:r>
            <a:endParaRPr lang="en-US" sz="1050" dirty="0"/>
          </a:p>
        </p:txBody>
      </p:sp>
      <p:sp>
        <p:nvSpPr>
          <p:cNvPr id="12" name="Shape 8"/>
          <p:cNvSpPr/>
          <p:nvPr/>
        </p:nvSpPr>
        <p:spPr>
          <a:xfrm>
            <a:off x="6035040" y="3840480"/>
            <a:ext cx="2651760" cy="822960"/>
          </a:xfrm>
          <a:prstGeom prst="roundRect">
            <a:avLst>
              <a:gd name="adj" fmla="val 8889"/>
            </a:avLst>
          </a:prstGeom>
          <a:solidFill>
            <a:srgbClr val="EAF2F6"/>
          </a:solidFill>
          <a:ln w="12700">
            <a:solidFill>
              <a:srgbClr val="EAF2F6"/>
            </a:solidFill>
            <a:prstDash val="solid"/>
          </a:ln>
        </p:spPr>
      </p:sp>
      <p:sp>
        <p:nvSpPr>
          <p:cNvPr id="13" name="Text 9"/>
          <p:cNvSpPr txBox="1"/>
          <p:nvPr/>
        </p:nvSpPr>
        <p:spPr>
          <a:xfrm>
            <a:off x="6108192" y="3858768"/>
            <a:ext cx="2514600" cy="786384"/>
          </a:xfrm>
          <a:prstGeom prst="rect">
            <a:avLst/>
          </a:prstGeom>
          <a:noFill/>
          <a:ln/>
        </p:spPr>
        <p:txBody>
          <a:bodyPr wrap="square" lIns="508" tIns="508" rIns="508" bIns="508" rtlCol="0" anchor="ctr"/>
          <a:lstStyle/>
          <a:p>
            <a:pPr indent="0" marL="0">
              <a:buNone/>
            </a:pPr>
            <a:r>
              <a:rPr lang="en-US" sz="1050" dirty="0">
                <a:solidFill>
                  <a:srgbClr val="1F2D3A"/>
                </a:solidFill>
                <a:latin typeface="Calibri" pitchFamily="34" charset="0"/>
                <a:ea typeface="Calibri" pitchFamily="34" charset="-122"/>
                <a:cs typeface="Calibri" pitchFamily="34" charset="-120"/>
              </a:rPr>
              <a:t>Electrons: monatomic chain half-filled (metal); SSH lower band full (insulator if gapped)</a:t>
            </a:r>
            <a:endParaRPr lang="en-US" sz="1050" dirty="0"/>
          </a:p>
        </p:txBody>
      </p:sp>
      <p:sp>
        <p:nvSpPr>
          <p:cNvPr id="14" name="Text 10"/>
          <p:cNvSpPr txBox="1"/>
          <p:nvPr/>
        </p:nvSpPr>
        <p:spPr>
          <a:xfrm>
            <a:off x="457200" y="4590288"/>
            <a:ext cx="4572000" cy="182880"/>
          </a:xfrm>
          <a:prstGeom prst="rect">
            <a:avLst/>
          </a:prstGeom>
          <a:noFill/>
          <a:ln/>
        </p:spPr>
        <p:txBody>
          <a:bodyPr wrap="square" lIns="508" tIns="508" rIns="508" bIns="508" rtlCol="0" anchor="t"/>
          <a:lstStyle/>
          <a:p>
            <a:pPr indent="0" marL="0">
              <a:buNone/>
            </a:pPr>
            <a:r>
              <a:rPr lang="en-US" sz="900" dirty="0">
                <a:solidFill>
                  <a:srgbClr val="6B7C8A"/>
                </a:solidFill>
                <a:latin typeface="Calibri" pitchFamily="34" charset="0"/>
                <a:ea typeface="Calibri" pitchFamily="34" charset="-122"/>
                <a:cs typeface="Calibri" pitchFamily="34" charset="-120"/>
              </a:rPr>
              <a:t>Peierls instability: cited from theory, not derived here.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Limitations and how to check them</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2E8B6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Interpretation</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297680"/>
                <a:gridCol w="393192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 done / limitation</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to check</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621792">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Real polyacetylene hopping values not used</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Repeat with literature t₁, t₂ and compare with the measured gap</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621792">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Chain length up to 160 cells; small gaps (e.g. t₂ = 0.9) not yet asymptotic</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Longer chains: check the 1/N_c² trend</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621792">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Why the in-gap states persist is not explained</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Final project: amplitude, length dependence, disorder</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2D and electron–electron interaction</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Outside this model</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621792">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Convention: which atom the chain starts with</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1F2D3A"/>
                          </a:solidFill>
                          <a:latin typeface="Calibri" pitchFamily="34" charset="0"/>
                          <a:ea typeface="Calibri" pitchFamily="34" charset="-122"/>
                          <a:cs typeface="Calibri" pitchFamily="34" charset="-120"/>
                        </a:rPr>
                        <a:t>Starting with B swaps which chain has the states</a:t>
                      </a:r>
                      <a:endParaRPr lang="en-US" sz="13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Preliminary observation: states inside the gap</a:t>
            </a:r>
            <a:endParaRPr lang="en-US" sz="2200" dirty="0"/>
          </a:p>
        </p:txBody>
      </p:sp>
      <p:sp>
        <p:nvSpPr>
          <p:cNvPr id="3" name="Text 1"/>
          <p:cNvSpPr txBox="1"/>
          <p:nvPr/>
        </p:nvSpPr>
        <p:spPr>
          <a:xfrm>
            <a:off x="7040880" y="384048"/>
            <a:ext cx="1645920" cy="274320"/>
          </a:xfrm>
          <a:prstGeom prst="roundRect">
            <a:avLst>
              <a:gd name="adj" fmla="val 50000"/>
            </a:avLst>
          </a:prstGeom>
          <a:solidFill>
            <a:srgbClr val="0B2A3C"/>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Outlook &amp; summary</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13</a:t>
            </a:r>
            <a:endParaRPr lang="en-US" sz="900" dirty="0"/>
          </a:p>
        </p:txBody>
      </p:sp>
      <p:pic>
        <p:nvPicPr>
          <p:cNvPr id="7" name="Image 0" descr="../midterm-tight-binding/output/figs/fig6_edge_states.png">    </p:cNvPr>
          <p:cNvPicPr>
            <a:picLocks noChangeAspect="1"/>
          </p:cNvPicPr>
          <p:nvPr/>
        </p:nvPicPr>
        <p:blipFill>
          <a:blip r:embed="rId1"/>
          <a:stretch>
            <a:fillRect/>
          </a:stretch>
        </p:blipFill>
        <p:spPr>
          <a:xfrm>
            <a:off x="457200" y="1097280"/>
            <a:ext cx="5074920" cy="338328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760720" y="1234440"/>
          <a:ext cx="2926080" cy="914400"/>
        </p:xfrm>
        <a:graphic>
          <a:graphicData uri="http://schemas.openxmlformats.org/drawingml/2006/table">
            <a:tbl>
              <a:tblPr/>
              <a:tblGrid>
                <a:gridCol w="822960"/>
                <a:gridCol w="1188720"/>
                <a:gridCol w="91440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Chain</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States with |E| &lt; 0.1</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Nearest |E|</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411480">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t₁ &gt; t₂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94360">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t₂ &gt; t₁</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2, weight at both ends</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indent="0" marL="0">
                        <a:buNone/>
                      </a:pPr>
                      <a:r>
                        <a:rPr lang="en-US" sz="1200" dirty="0">
                          <a:solidFill>
                            <a:srgbClr val="1F2D3A"/>
                          </a:solidFill>
                          <a:latin typeface="Calibri" pitchFamily="34" charset="0"/>
                          <a:ea typeface="Calibri" pitchFamily="34" charset="-122"/>
                          <a:cs typeface="Calibri" pitchFamily="34" charset="-120"/>
                        </a:rPr>
                        <a:t>≈ 0 (7×10⁻⁷)</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
        <p:nvSpPr>
          <p:cNvPr id="9" name="Shape 4"/>
          <p:cNvSpPr/>
          <p:nvPr/>
        </p:nvSpPr>
        <p:spPr>
          <a:xfrm>
            <a:off x="5760720" y="3017520"/>
            <a:ext cx="2926080" cy="1188720"/>
          </a:xfrm>
          <a:prstGeom prst="roundRect">
            <a:avLst>
              <a:gd name="adj" fmla="val 6154"/>
            </a:avLst>
          </a:prstGeom>
          <a:solidFill>
            <a:srgbClr val="E07A1F"/>
          </a:solidFill>
          <a:ln w="12700">
            <a:solidFill>
              <a:srgbClr val="E07A1F"/>
            </a:solidFill>
            <a:prstDash val="solid"/>
          </a:ln>
        </p:spPr>
      </p:sp>
      <p:sp>
        <p:nvSpPr>
          <p:cNvPr id="10" name="Text 5"/>
          <p:cNvSpPr txBox="1"/>
          <p:nvPr/>
        </p:nvSpPr>
        <p:spPr>
          <a:xfrm>
            <a:off x="5870448" y="3063240"/>
            <a:ext cx="2706624" cy="1097280"/>
          </a:xfrm>
          <a:prstGeom prst="rect">
            <a:avLst/>
          </a:prstGeom>
          <a:noFill/>
          <a:ln/>
        </p:spPr>
        <p:txBody>
          <a:bodyPr wrap="square" lIns="508" tIns="508" rIns="508" bIns="508"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Observation only. Why these states exist and when they persist is not yet explained (final project).</a:t>
            </a:r>
            <a:endParaRPr lang="en-US" sz="1300" dirty="0"/>
          </a:p>
        </p:txBody>
      </p:sp>
      <p:sp>
        <p:nvSpPr>
          <p:cNvPr id="11" name="Text 6"/>
          <p:cNvSpPr txBox="1"/>
          <p:nvPr/>
        </p:nvSpPr>
        <p:spPr>
          <a:xfrm>
            <a:off x="5760720" y="4251960"/>
            <a:ext cx="2926080" cy="228600"/>
          </a:xfrm>
          <a:prstGeom prst="rect">
            <a:avLst/>
          </a:prstGeom>
          <a:noFill/>
          <a:ln/>
        </p:spPr>
        <p:txBody>
          <a:bodyPr wrap="square" lIns="508" tIns="508" rIns="508" bIns="508" rtlCol="0" anchor="t"/>
          <a:lstStyle/>
          <a:p>
            <a:pPr indent="0" marL="0">
              <a:buNone/>
            </a:pPr>
            <a:r>
              <a:rPr lang="en-US" sz="1000" dirty="0">
                <a:solidFill>
                  <a:srgbClr val="6B7C8A"/>
                </a:solidFill>
                <a:latin typeface="Calibri" pitchFamily="34" charset="0"/>
                <a:ea typeface="Calibri" pitchFamily="34" charset="-122"/>
                <a:cs typeface="Calibri" pitchFamily="34" charset="-120"/>
              </a:rPr>
              <a:t>N_c = 20 cells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Outlook: what the final project will test</a:t>
            </a:r>
            <a:endParaRPr lang="en-US" sz="2200" dirty="0"/>
          </a:p>
        </p:txBody>
      </p:sp>
      <p:sp>
        <p:nvSpPr>
          <p:cNvPr id="3" name="Text 1"/>
          <p:cNvSpPr txBox="1"/>
          <p:nvPr/>
        </p:nvSpPr>
        <p:spPr>
          <a:xfrm>
            <a:off x="7040880" y="384048"/>
            <a:ext cx="1645920" cy="274320"/>
          </a:xfrm>
          <a:prstGeom prst="roundRect">
            <a:avLst>
              <a:gd name="adj" fmla="val 50000"/>
            </a:avLst>
          </a:prstGeom>
          <a:solidFill>
            <a:srgbClr val="0B2A3C"/>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Outlook &amp; summary</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457200" y="1280160"/>
            <a:ext cx="2560320" cy="2651760"/>
          </a:xfrm>
          <a:prstGeom prst="roundRect">
            <a:avLst>
              <a:gd name="adj" fmla="val 2857"/>
            </a:avLst>
          </a:prstGeom>
          <a:solidFill>
            <a:srgbClr val="EAF2F6"/>
          </a:solidFill>
          <a:ln w="12700">
            <a:solidFill>
              <a:srgbClr val="EAF2F6"/>
            </a:solidFill>
            <a:prstDash val="solid"/>
          </a:ln>
        </p:spPr>
      </p:sp>
      <p:sp>
        <p:nvSpPr>
          <p:cNvPr id="8" name="Text 5"/>
          <p:cNvSpPr txBox="1"/>
          <p:nvPr/>
        </p:nvSpPr>
        <p:spPr>
          <a:xfrm>
            <a:off x="640080" y="1463040"/>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640080" y="1965960"/>
            <a:ext cx="2194560" cy="640080"/>
          </a:xfrm>
          <a:prstGeom prst="rect">
            <a:avLst/>
          </a:prstGeom>
          <a:noFill/>
          <a:ln/>
        </p:spPr>
        <p:txBody>
          <a:bodyPr wrap="square" lIns="508" tIns="508" rIns="508" bIns="508" rtlCol="0" anchor="t"/>
          <a:lstStyle/>
          <a:p>
            <a:pPr indent="0" marL="0">
              <a:buNone/>
            </a:pPr>
            <a:r>
              <a:rPr lang="en-US" sz="1700" b="1" dirty="0">
                <a:solidFill>
                  <a:srgbClr val="0B2A3C"/>
                </a:solidFill>
                <a:latin typeface="Calibri" pitchFamily="34" charset="0"/>
                <a:ea typeface="Calibri" pitchFamily="34" charset="-122"/>
                <a:cs typeface="Calibri" pitchFamily="34" charset="-120"/>
              </a:rPr>
              <a:t>Amplitude and length</a:t>
            </a:r>
            <a:endParaRPr lang="en-US" sz="1700" dirty="0"/>
          </a:p>
        </p:txBody>
      </p:sp>
      <p:sp>
        <p:nvSpPr>
          <p:cNvPr id="10" name="Text 7"/>
          <p:cNvSpPr txBox="1"/>
          <p:nvPr/>
        </p:nvSpPr>
        <p:spPr>
          <a:xfrm>
            <a:off x="640080" y="2651760"/>
            <a:ext cx="2240280" cy="118872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How the state decays inward and how its distance from E = 0 depends on chain length</a:t>
            </a:r>
            <a:endParaRPr lang="en-US" sz="1300" dirty="0"/>
          </a:p>
        </p:txBody>
      </p:sp>
      <p:sp>
        <p:nvSpPr>
          <p:cNvPr id="11" name="Shape 8"/>
          <p:cNvSpPr/>
          <p:nvPr/>
        </p:nvSpPr>
        <p:spPr>
          <a:xfrm>
            <a:off x="3291840" y="1280160"/>
            <a:ext cx="2560320" cy="2651760"/>
          </a:xfrm>
          <a:prstGeom prst="roundRect">
            <a:avLst>
              <a:gd name="adj" fmla="val 2857"/>
            </a:avLst>
          </a:prstGeom>
          <a:solidFill>
            <a:srgbClr val="EAF2F6"/>
          </a:solidFill>
          <a:ln w="12700">
            <a:solidFill>
              <a:srgbClr val="EAF2F6"/>
            </a:solidFill>
            <a:prstDash val="solid"/>
          </a:ln>
        </p:spPr>
      </p:sp>
      <p:sp>
        <p:nvSpPr>
          <p:cNvPr id="12" name="Text 9"/>
          <p:cNvSpPr txBox="1"/>
          <p:nvPr/>
        </p:nvSpPr>
        <p:spPr>
          <a:xfrm>
            <a:off x="3474720" y="1463040"/>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3474720" y="1965960"/>
            <a:ext cx="2194560" cy="640080"/>
          </a:xfrm>
          <a:prstGeom prst="rect">
            <a:avLst/>
          </a:prstGeom>
          <a:noFill/>
          <a:ln/>
        </p:spPr>
        <p:txBody>
          <a:bodyPr wrap="square" lIns="508" tIns="508" rIns="508" bIns="508" rtlCol="0" anchor="t"/>
          <a:lstStyle/>
          <a:p>
            <a:pPr indent="0" marL="0">
              <a:buNone/>
            </a:pPr>
            <a:r>
              <a:rPr lang="en-US" sz="1700" b="1" dirty="0">
                <a:solidFill>
                  <a:srgbClr val="0B2A3C"/>
                </a:solidFill>
                <a:latin typeface="Calibri" pitchFamily="34" charset="0"/>
                <a:ea typeface="Calibri" pitchFamily="34" charset="-122"/>
                <a:cs typeface="Calibri" pitchFamily="34" charset="-120"/>
              </a:rPr>
              <a:t>Disorder and statistics</a:t>
            </a:r>
            <a:endParaRPr lang="en-US" sz="1700" dirty="0"/>
          </a:p>
        </p:txBody>
      </p:sp>
      <p:sp>
        <p:nvSpPr>
          <p:cNvPr id="14" name="Text 11"/>
          <p:cNvSpPr txBox="1"/>
          <p:nvPr/>
        </p:nvSpPr>
        <p:spPr>
          <a:xfrm>
            <a:off x="3474720" y="2651760"/>
            <a:ext cx="2240280" cy="118872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Which random perturbations keep E ≈ 0; mean ± standard error over many samples</a:t>
            </a:r>
            <a:endParaRPr lang="en-US" sz="1300" dirty="0"/>
          </a:p>
        </p:txBody>
      </p:sp>
      <p:sp>
        <p:nvSpPr>
          <p:cNvPr id="15" name="Shape 12"/>
          <p:cNvSpPr/>
          <p:nvPr/>
        </p:nvSpPr>
        <p:spPr>
          <a:xfrm>
            <a:off x="6126480" y="1280160"/>
            <a:ext cx="2560320" cy="2651760"/>
          </a:xfrm>
          <a:prstGeom prst="roundRect">
            <a:avLst>
              <a:gd name="adj" fmla="val 2857"/>
            </a:avLst>
          </a:prstGeom>
          <a:solidFill>
            <a:srgbClr val="EAF2F6"/>
          </a:solidFill>
          <a:ln w="12700">
            <a:solidFill>
              <a:srgbClr val="EAF2F6"/>
            </a:solidFill>
            <a:prstDash val="solid"/>
          </a:ln>
        </p:spPr>
      </p:sp>
      <p:sp>
        <p:nvSpPr>
          <p:cNvPr id="16" name="Text 13"/>
          <p:cNvSpPr txBox="1"/>
          <p:nvPr/>
        </p:nvSpPr>
        <p:spPr>
          <a:xfrm>
            <a:off x="6309360" y="1463040"/>
            <a:ext cx="365760" cy="365760"/>
          </a:xfrm>
          <a:prstGeom prst="ellipse">
            <a:avLst/>
          </a:prstGeom>
          <a:solidFill>
            <a:srgbClr val="3E5C7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6309360" y="1965960"/>
            <a:ext cx="2194560" cy="640080"/>
          </a:xfrm>
          <a:prstGeom prst="rect">
            <a:avLst/>
          </a:prstGeom>
          <a:noFill/>
          <a:ln/>
        </p:spPr>
        <p:txBody>
          <a:bodyPr wrap="square" lIns="508" tIns="508" rIns="508" bIns="508" rtlCol="0" anchor="t"/>
          <a:lstStyle/>
          <a:p>
            <a:pPr indent="0" marL="0">
              <a:buNone/>
            </a:pPr>
            <a:r>
              <a:rPr lang="en-US" sz="1700" b="1" dirty="0">
                <a:solidFill>
                  <a:srgbClr val="0B2A3C"/>
                </a:solidFill>
                <a:latin typeface="Calibri" pitchFamily="34" charset="0"/>
                <a:ea typeface="Calibri" pitchFamily="34" charset="-122"/>
                <a:cs typeface="Calibri" pitchFamily="34" charset="-120"/>
              </a:rPr>
              <a:t>Symmetry and winding number</a:t>
            </a:r>
            <a:endParaRPr lang="en-US" sz="1700" dirty="0"/>
          </a:p>
        </p:txBody>
      </p:sp>
      <p:sp>
        <p:nvSpPr>
          <p:cNvPr id="18" name="Text 15"/>
          <p:cNvSpPr txBox="1"/>
          <p:nvPr/>
        </p:nvSpPr>
        <p:spPr>
          <a:xfrm>
            <a:off x="6309360" y="2651760"/>
            <a:ext cx="2240280" cy="118872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The symmetry that explains the pairing of levels and the invariant that predicts the states</a:t>
            </a:r>
            <a:endParaRPr lang="en-US" sz="1300" dirty="0"/>
          </a:p>
        </p:txBody>
      </p:sp>
      <p:sp>
        <p:nvSpPr>
          <p:cNvPr id="19" name="Text 16"/>
          <p:cNvSpPr txBox="1"/>
          <p:nvPr/>
        </p:nvSpPr>
        <p:spPr>
          <a:xfrm>
            <a:off x="457200" y="4206240"/>
            <a:ext cx="8229600" cy="320040"/>
          </a:xfrm>
          <a:prstGeom prst="rect">
            <a:avLst/>
          </a:prstGeom>
          <a:noFill/>
          <a:ln/>
        </p:spPr>
        <p:txBody>
          <a:bodyPr wrap="square" lIns="508" tIns="508" rIns="508" bIns="508" rtlCol="0" anchor="t"/>
          <a:lstStyle/>
          <a:p>
            <a:pPr indent="0" marL="0">
              <a:buNone/>
            </a:pPr>
            <a:r>
              <a:rPr lang="en-US" sz="1200" dirty="0">
                <a:solidFill>
                  <a:srgbClr val="6B7C8A"/>
                </a:solidFill>
                <a:latin typeface="Calibri" pitchFamily="34" charset="0"/>
                <a:ea typeface="Calibri" pitchFamily="34" charset="-122"/>
                <a:cs typeface="Calibri" pitchFamily="34" charset="-120"/>
              </a:rPr>
              <a:t>Plan only. No new result is shown on this slide.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A3C"/>
        </a:solidFill>
      </p:bgPr>
    </p:bg>
    <p:spTree>
      <p:nvGrpSpPr>
        <p:cNvPr id="1" name=""/>
        <p:cNvGrpSpPr/>
        <p:nvPr/>
      </p:nvGrpSpPr>
      <p:grpSpPr>
        <a:xfrm>
          <a:off x="0" y="0"/>
          <a:ext cx="0" cy="0"/>
          <a:chOff x="0" y="0"/>
          <a:chExt cx="0" cy="0"/>
        </a:xfrm>
      </p:grpSpPr>
      <p:sp>
        <p:nvSpPr>
          <p:cNvPr id="3" name="Text 0"/>
          <p:cNvSpPr txBox="1"/>
          <p:nvPr/>
        </p:nvSpPr>
        <p:spPr>
          <a:xfrm>
            <a:off x="457200" y="274320"/>
            <a:ext cx="548640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Summary</a:t>
            </a:r>
            <a:endParaRPr lang="en-US" sz="3000" dirty="0"/>
          </a:p>
        </p:txBody>
      </p:sp>
      <p:sp>
        <p:nvSpPr>
          <p:cNvPr id="4" name="Shape 1"/>
          <p:cNvSpPr/>
          <p:nvPr/>
        </p:nvSpPr>
        <p:spPr>
          <a:xfrm>
            <a:off x="457200" y="1188720"/>
            <a:ext cx="2560320" cy="2103120"/>
          </a:xfrm>
          <a:prstGeom prst="roundRect">
            <a:avLst>
              <a:gd name="adj" fmla="val 3478"/>
            </a:avLst>
          </a:prstGeom>
          <a:solidFill>
            <a:srgbClr val="163D54"/>
          </a:solidFill>
          <a:ln w="12700">
            <a:solidFill>
              <a:srgbClr val="163D54"/>
            </a:solidFill>
            <a:prstDash val="solid"/>
          </a:ln>
        </p:spPr>
      </p:sp>
      <p:sp>
        <p:nvSpPr>
          <p:cNvPr id="5" name="Text 2"/>
          <p:cNvSpPr txBox="1"/>
          <p:nvPr/>
        </p:nvSpPr>
        <p:spPr>
          <a:xfrm>
            <a:off x="640080" y="1298448"/>
            <a:ext cx="2194560" cy="411480"/>
          </a:xfrm>
          <a:prstGeom prst="rect">
            <a:avLst/>
          </a:prstGeom>
          <a:noFill/>
          <a:ln/>
        </p:spPr>
        <p:txBody>
          <a:bodyPr wrap="square" lIns="0" tIns="0" rIns="0" bIns="0" rtlCol="0" anchor="ctr"/>
          <a:lstStyle/>
          <a:p>
            <a:pPr indent="0" marL="0">
              <a:buNone/>
            </a:pPr>
            <a:r>
              <a:rPr lang="en-US" sz="1800" b="1" dirty="0">
                <a:solidFill>
                  <a:srgbClr val="E07A1F"/>
                </a:solidFill>
                <a:latin typeface="Calibri" pitchFamily="34" charset="0"/>
                <a:ea typeface="Calibri" pitchFamily="34" charset="-122"/>
                <a:cs typeface="Calibri" pitchFamily="34" charset="-120"/>
              </a:rPr>
              <a:t>Study</a:t>
            </a:r>
            <a:endParaRPr lang="en-US" sz="1800" dirty="0"/>
          </a:p>
        </p:txBody>
      </p:sp>
      <p:sp>
        <p:nvSpPr>
          <p:cNvPr id="6" name="Text 3"/>
          <p:cNvSpPr txBox="1"/>
          <p:nvPr/>
        </p:nvSpPr>
        <p:spPr>
          <a:xfrm>
            <a:off x="640080" y="1737360"/>
            <a:ext cx="2194560" cy="146304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SSH chain: bands, gap and a finite chain by matrix diagonalization</a:t>
            </a:r>
            <a:endParaRPr lang="en-US" sz="1300" dirty="0"/>
          </a:p>
        </p:txBody>
      </p:sp>
      <p:sp>
        <p:nvSpPr>
          <p:cNvPr id="7" name="Shape 4"/>
          <p:cNvSpPr/>
          <p:nvPr/>
        </p:nvSpPr>
        <p:spPr>
          <a:xfrm>
            <a:off x="3291840" y="1188720"/>
            <a:ext cx="2560320" cy="2103120"/>
          </a:xfrm>
          <a:prstGeom prst="roundRect">
            <a:avLst>
              <a:gd name="adj" fmla="val 3478"/>
            </a:avLst>
          </a:prstGeom>
          <a:solidFill>
            <a:srgbClr val="163D54"/>
          </a:solidFill>
          <a:ln w="12700">
            <a:solidFill>
              <a:srgbClr val="163D54"/>
            </a:solidFill>
            <a:prstDash val="solid"/>
          </a:ln>
        </p:spPr>
      </p:sp>
      <p:sp>
        <p:nvSpPr>
          <p:cNvPr id="8" name="Text 5"/>
          <p:cNvSpPr txBox="1"/>
          <p:nvPr/>
        </p:nvSpPr>
        <p:spPr>
          <a:xfrm>
            <a:off x="3474720" y="1298448"/>
            <a:ext cx="2194560" cy="411480"/>
          </a:xfrm>
          <a:prstGeom prst="rect">
            <a:avLst/>
          </a:prstGeom>
          <a:noFill/>
          <a:ln/>
        </p:spPr>
        <p:txBody>
          <a:bodyPr wrap="square" lIns="0" tIns="0" rIns="0" bIns="0" rtlCol="0" anchor="ctr"/>
          <a:lstStyle/>
          <a:p>
            <a:pPr indent="0" marL="0">
              <a:buNone/>
            </a:pPr>
            <a:r>
              <a:rPr lang="en-US" sz="1800" b="1" dirty="0">
                <a:solidFill>
                  <a:srgbClr val="E07A1F"/>
                </a:solidFill>
                <a:latin typeface="Calibri" pitchFamily="34" charset="0"/>
                <a:ea typeface="Calibri" pitchFamily="34" charset="-122"/>
                <a:cs typeface="Calibri" pitchFamily="34" charset="-120"/>
              </a:rPr>
              <a:t>Finding</a:t>
            </a:r>
            <a:endParaRPr lang="en-US" sz="1800" dirty="0"/>
          </a:p>
        </p:txBody>
      </p:sp>
      <p:sp>
        <p:nvSpPr>
          <p:cNvPr id="9" name="Text 6"/>
          <p:cNvSpPr txBox="1"/>
          <p:nvPr/>
        </p:nvSpPr>
        <p:spPr>
          <a:xfrm>
            <a:off x="3474720" y="1737360"/>
            <a:ext cx="2194560" cy="146304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Gap = 2|t₁ − t₂|, closing at t₁ = t₂. Agreement with analytic results ~10⁻¹⁵. Finite-chain gap converges as 1/N_c².</a:t>
            </a:r>
            <a:endParaRPr lang="en-US" sz="1300" dirty="0"/>
          </a:p>
        </p:txBody>
      </p:sp>
      <p:sp>
        <p:nvSpPr>
          <p:cNvPr id="10" name="Shape 7"/>
          <p:cNvSpPr/>
          <p:nvPr/>
        </p:nvSpPr>
        <p:spPr>
          <a:xfrm>
            <a:off x="6126480" y="1188720"/>
            <a:ext cx="2560320" cy="2103120"/>
          </a:xfrm>
          <a:prstGeom prst="roundRect">
            <a:avLst>
              <a:gd name="adj" fmla="val 3478"/>
            </a:avLst>
          </a:prstGeom>
          <a:solidFill>
            <a:srgbClr val="163D54"/>
          </a:solidFill>
          <a:ln w="12700">
            <a:solidFill>
              <a:srgbClr val="163D54"/>
            </a:solidFill>
            <a:prstDash val="solid"/>
          </a:ln>
        </p:spPr>
      </p:sp>
      <p:sp>
        <p:nvSpPr>
          <p:cNvPr id="11" name="Text 8"/>
          <p:cNvSpPr txBox="1"/>
          <p:nvPr/>
        </p:nvSpPr>
        <p:spPr>
          <a:xfrm>
            <a:off x="6309360" y="1298448"/>
            <a:ext cx="2194560" cy="411480"/>
          </a:xfrm>
          <a:prstGeom prst="rect">
            <a:avLst/>
          </a:prstGeom>
          <a:noFill/>
          <a:ln/>
        </p:spPr>
        <p:txBody>
          <a:bodyPr wrap="square" lIns="0" tIns="0" rIns="0" bIns="0" rtlCol="0" anchor="ctr"/>
          <a:lstStyle/>
          <a:p>
            <a:pPr indent="0" marL="0">
              <a:buNone/>
            </a:pPr>
            <a:r>
              <a:rPr lang="en-US" sz="1800" b="1" dirty="0">
                <a:solidFill>
                  <a:srgbClr val="E07A1F"/>
                </a:solidFill>
                <a:latin typeface="Calibri" pitchFamily="34" charset="0"/>
                <a:ea typeface="Calibri" pitchFamily="34" charset="-122"/>
                <a:cs typeface="Calibri" pitchFamily="34" charset="-120"/>
              </a:rPr>
              <a:t>Further work</a:t>
            </a:r>
            <a:endParaRPr lang="en-US" sz="1800" dirty="0"/>
          </a:p>
        </p:txBody>
      </p:sp>
      <p:sp>
        <p:nvSpPr>
          <p:cNvPr id="12" name="Text 9"/>
          <p:cNvSpPr txBox="1"/>
          <p:nvPr/>
        </p:nvSpPr>
        <p:spPr>
          <a:xfrm>
            <a:off x="6309360" y="1737360"/>
            <a:ext cx="2194560" cy="146304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In-gap states of the finite chain: what they are and when they persist</a:t>
            </a:r>
            <a:endParaRPr lang="en-US" sz="1300" dirty="0"/>
          </a:p>
        </p:txBody>
      </p:sp>
      <p:sp>
        <p:nvSpPr>
          <p:cNvPr id="13" name="Text 10"/>
          <p:cNvSpPr txBox="1"/>
          <p:nvPr/>
        </p:nvSpPr>
        <p:spPr>
          <a:xfrm>
            <a:off x="457200" y="3520440"/>
            <a:ext cx="256032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2|t₁ − t₂|</a:t>
            </a:r>
            <a:endParaRPr lang="en-US" sz="2800" dirty="0"/>
          </a:p>
        </p:txBody>
      </p:sp>
      <p:sp>
        <p:nvSpPr>
          <p:cNvPr id="14" name="Text 11"/>
          <p:cNvSpPr txBox="1"/>
          <p:nvPr/>
        </p:nvSpPr>
        <p:spPr>
          <a:xfrm>
            <a:off x="457200" y="4069080"/>
            <a:ext cx="256032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band gap</a:t>
            </a:r>
            <a:endParaRPr lang="en-US" sz="1200" dirty="0"/>
          </a:p>
        </p:txBody>
      </p:sp>
      <p:sp>
        <p:nvSpPr>
          <p:cNvPr id="15" name="Text 12"/>
          <p:cNvSpPr txBox="1"/>
          <p:nvPr/>
        </p:nvSpPr>
        <p:spPr>
          <a:xfrm>
            <a:off x="3291840" y="3520440"/>
            <a:ext cx="256032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~10⁻¹⁵</a:t>
            </a:r>
            <a:endParaRPr lang="en-US" sz="2800" dirty="0"/>
          </a:p>
        </p:txBody>
      </p:sp>
      <p:sp>
        <p:nvSpPr>
          <p:cNvPr id="16" name="Text 13"/>
          <p:cNvSpPr txBox="1"/>
          <p:nvPr/>
        </p:nvSpPr>
        <p:spPr>
          <a:xfrm>
            <a:off x="3291840" y="4069080"/>
            <a:ext cx="256032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agreement with analytic results</a:t>
            </a:r>
            <a:endParaRPr lang="en-US" sz="1200" dirty="0"/>
          </a:p>
        </p:txBody>
      </p:sp>
      <p:sp>
        <p:nvSpPr>
          <p:cNvPr id="17" name="Text 14"/>
          <p:cNvSpPr txBox="1"/>
          <p:nvPr/>
        </p:nvSpPr>
        <p:spPr>
          <a:xfrm>
            <a:off x="6126480" y="3520440"/>
            <a:ext cx="256032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1/N_c²</a:t>
            </a:r>
            <a:endParaRPr lang="en-US" sz="2800" dirty="0"/>
          </a:p>
        </p:txBody>
      </p:sp>
      <p:sp>
        <p:nvSpPr>
          <p:cNvPr id="18" name="Text 15"/>
          <p:cNvSpPr txBox="1"/>
          <p:nvPr/>
        </p:nvSpPr>
        <p:spPr>
          <a:xfrm>
            <a:off x="6126480" y="4069080"/>
            <a:ext cx="256032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finite-chain convergence</a:t>
            </a:r>
            <a:endParaRPr lang="en-US" sz="1200" dirty="0"/>
          </a:p>
        </p:txBody>
      </p:sp>
      <p:sp>
        <p:nvSpPr>
          <p:cNvPr id="19" name="Text 16"/>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200" b="1" dirty="0">
                <a:solidFill>
                  <a:srgbClr val="0B2A3C"/>
                </a:solidFill>
                <a:latin typeface="Calibri" pitchFamily="34" charset="0"/>
                <a:ea typeface="Calibri" pitchFamily="34" charset="-122"/>
                <a:cs typeface="Calibri" pitchFamily="34" charset="-120"/>
              </a:rPr>
              <a:t>Backup: Bloch theorem and the Brillouin zone</a:t>
            </a:r>
            <a:endParaRPr lang="en-US" sz="22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16</a:t>
            </a:r>
            <a:endParaRPr lang="en-US" sz="900" dirty="0"/>
          </a:p>
        </p:txBody>
      </p:sp>
      <p:sp>
        <p:nvSpPr>
          <p:cNvPr id="7" name="Text 4"/>
          <p:cNvSpPr txBox="1"/>
          <p:nvPr/>
        </p:nvSpPr>
        <p:spPr>
          <a:xfrm>
            <a:off x="457200" y="1188720"/>
            <a:ext cx="4754880" cy="3291840"/>
          </a:xfrm>
          <a:prstGeom prst="rect">
            <a:avLst/>
          </a:prstGeom>
          <a:noFill/>
          <a:ln/>
        </p:spPr>
        <p:txBody>
          <a:bodyPr wrap="square" lIns="508" tIns="508" rIns="508" bIns="508" rtlCol="0" anchor="t"/>
          <a:lstStyle/>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A crystal repeating with period a: ψ_k(x) = e^(ikx) u_k(x), with u_k(x + a) = u_k(x)</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Shifting by a multiplies the state by the phase e^(ika)</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k and k + 2π/a label the same state, so k ∈ (−π/a, π/a]</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Payoff: one small unit-cell matrix per k</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Not usable for the open chain (periodicity broken)</a:t>
            </a:r>
            <a:endParaRPr lang="en-US" sz="1700" dirty="0"/>
          </a:p>
        </p:txBody>
      </p:sp>
      <p:sp>
        <p:nvSpPr>
          <p:cNvPr id="8" name="Shape 5"/>
          <p:cNvSpPr/>
          <p:nvPr/>
        </p:nvSpPr>
        <p:spPr>
          <a:xfrm>
            <a:off x="5486400" y="1188720"/>
            <a:ext cx="3200400" cy="2011680"/>
          </a:xfrm>
          <a:prstGeom prst="roundRect">
            <a:avLst>
              <a:gd name="adj" fmla="val 3636"/>
            </a:avLst>
          </a:prstGeom>
          <a:solidFill>
            <a:srgbClr val="EAF2F6"/>
          </a:solidFill>
          <a:ln w="12700">
            <a:solidFill>
              <a:srgbClr val="EAF2F6"/>
            </a:solidFill>
            <a:prstDash val="solid"/>
          </a:ln>
        </p:spPr>
      </p:sp>
      <p:sp>
        <p:nvSpPr>
          <p:cNvPr id="9" name="Text 6"/>
          <p:cNvSpPr txBox="1"/>
          <p:nvPr/>
        </p:nvSpPr>
        <p:spPr>
          <a:xfrm>
            <a:off x="5623560" y="1280160"/>
            <a:ext cx="2926080" cy="1828800"/>
          </a:xfrm>
          <a:prstGeom prst="rect">
            <a:avLst/>
          </a:prstGeom>
          <a:noFill/>
          <a:ln/>
        </p:spPr>
        <p:txBody>
          <a:bodyPr wrap="square" lIns="508" tIns="508" rIns="508" bIns="508" rtlCol="0" anchor="t"/>
          <a:lstStyle/>
          <a:p>
            <a:pPr indent="0" marL="0">
              <a:buNone/>
            </a:pPr>
            <a:r>
              <a:rPr lang="en-US" sz="1400" dirty="0">
                <a:solidFill>
                  <a:srgbClr val="0B2A3C"/>
                </a:solidFill>
                <a:latin typeface="Cambria" pitchFamily="34" charset="0"/>
                <a:ea typeface="Cambria" pitchFamily="34" charset="-122"/>
                <a:cs typeface="Cambria" pitchFamily="34" charset="-120"/>
              </a:rPr>
              <a:t>ψ</a:t>
            </a:r>
            <a:pPr indent="0" marL="0">
              <a:buNone/>
            </a:pPr>
            <a:r>
              <a:rPr lang="en-US" sz="1400" baseline="-40000" dirty="0">
                <a:solidFill>
                  <a:srgbClr val="0B2A3C"/>
                </a:solidFill>
                <a:latin typeface="Cambria" pitchFamily="34" charset="0"/>
                <a:ea typeface="Cambria" pitchFamily="34" charset="-122"/>
                <a:cs typeface="Cambria" pitchFamily="34" charset="-120"/>
              </a:rPr>
              <a:t>k</a:t>
            </a:r>
            <a:pPr indent="0" marL="0">
              <a:buNone/>
            </a:pPr>
            <a:r>
              <a:rPr lang="en-US" sz="1400" dirty="0">
                <a:solidFill>
                  <a:srgbClr val="0B2A3C"/>
                </a:solidFill>
                <a:latin typeface="Cambria" pitchFamily="34" charset="0"/>
                <a:ea typeface="Cambria" pitchFamily="34" charset="-122"/>
                <a:cs typeface="Cambria" pitchFamily="34" charset="-120"/>
              </a:rPr>
              <a:t>(x + a) = e</a:t>
            </a:r>
            <a:pPr indent="0" marL="0">
              <a:buNone/>
            </a:pPr>
            <a:r>
              <a:rPr lang="en-US" sz="1400" baseline="30000" dirty="0">
                <a:solidFill>
                  <a:srgbClr val="0B2A3C"/>
                </a:solidFill>
                <a:latin typeface="Cambria" pitchFamily="34" charset="0"/>
                <a:ea typeface="Cambria" pitchFamily="34" charset="-122"/>
                <a:cs typeface="Cambria" pitchFamily="34" charset="-120"/>
              </a:rPr>
              <a:t>ika</a:t>
            </a:r>
            <a:pPr indent="0" marL="0">
              <a:buNone/>
            </a:pPr>
            <a:r>
              <a:rPr lang="en-US" sz="1400" dirty="0">
                <a:solidFill>
                  <a:srgbClr val="0B2A3C"/>
                </a:solidFill>
                <a:latin typeface="Cambria" pitchFamily="34" charset="0"/>
                <a:ea typeface="Cambria" pitchFamily="34" charset="-122"/>
                <a:cs typeface="Cambria" pitchFamily="34" charset="-120"/>
              </a:rPr>
              <a:t> ψ</a:t>
            </a:r>
            <a:pPr indent="0" marL="0">
              <a:buNone/>
            </a:pPr>
            <a:r>
              <a:rPr lang="en-US" sz="1400" baseline="-40000" dirty="0">
                <a:solidFill>
                  <a:srgbClr val="0B2A3C"/>
                </a:solidFill>
                <a:latin typeface="Cambria" pitchFamily="34" charset="0"/>
                <a:ea typeface="Cambria" pitchFamily="34" charset="-122"/>
                <a:cs typeface="Cambria" pitchFamily="34" charset="-120"/>
              </a:rPr>
              <a:t>k</a:t>
            </a:r>
            <a:pPr indent="0" marL="0">
              <a:buNone/>
            </a:pPr>
            <a:r>
              <a:rPr lang="en-US" sz="1400" dirty="0">
                <a:solidFill>
                  <a:srgbClr val="0B2A3C"/>
                </a:solidFill>
                <a:latin typeface="Cambria" pitchFamily="34" charset="0"/>
                <a:ea typeface="Cambria" pitchFamily="34" charset="-122"/>
                <a:cs typeface="Cambria" pitchFamily="34" charset="-120"/>
              </a:rPr>
              <a:t>(x)</a:t>
            </a:r>
            <a:endParaRPr lang="en-US" sz="1400" dirty="0"/>
          </a:p>
          <a:p>
            <a:pPr indent="0" marL="0">
              <a:buNone/>
            </a:pPr>
            <a:endParaRPr lang="en-US" sz="1400" dirty="0"/>
          </a:p>
          <a:p>
            <a:pPr indent="0" marL="0">
              <a:buNone/>
            </a:pPr>
            <a:r>
              <a:rPr lang="en-US" sz="1400" dirty="0">
                <a:solidFill>
                  <a:srgbClr val="0B2A3C"/>
                </a:solidFill>
                <a:latin typeface="Cambria" pitchFamily="34" charset="0"/>
                <a:ea typeface="Cambria" pitchFamily="34" charset="-122"/>
                <a:cs typeface="Cambria" pitchFamily="34" charset="-120"/>
              </a:rPr>
              <a:t>proof idea: the translation operator commutes with H, and its eigenvalues have modulus 1</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derivation of H(k)</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17</a:t>
            </a:r>
            <a:endParaRPr lang="en-US" sz="900" dirty="0"/>
          </a:p>
        </p:txBody>
      </p:sp>
      <p:sp>
        <p:nvSpPr>
          <p:cNvPr id="7" name="Text 4"/>
          <p:cNvSpPr txBox="1"/>
          <p:nvPr/>
        </p:nvSpPr>
        <p:spPr>
          <a:xfrm>
            <a:off x="457200" y="1188720"/>
            <a:ext cx="4937760" cy="3291840"/>
          </a:xfrm>
          <a:prstGeom prst="rect">
            <a:avLst/>
          </a:prstGeom>
          <a:noFill/>
          <a:ln/>
        </p:spPr>
        <p:txBody>
          <a:bodyPr wrap="square" lIns="508" tIns="508" rIns="508" bIns="508" rtlCol="0" anchor="t"/>
          <a:lstStyle/>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Two atoms per cell → a 2×2 matrix</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Atom A in cell 0 couples to B in the same cell (t₁) and to B in the cell on the left (t₂, phase e^(−ika))</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H_AB(k) = t₁ + t₂ e^(−ika); Hermiticity gives H_BA = H_AB*</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Diagonal 0: no on-site energy, no hopping between equal sublattices</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The notebook puts h in the other off-diagonal slot: complex conjugate, same eigenvalues</a:t>
            </a:r>
            <a:endParaRPr lang="en-US" sz="1700" dirty="0"/>
          </a:p>
        </p:txBody>
      </p:sp>
      <p:sp>
        <p:nvSpPr>
          <p:cNvPr id="8" name="Shape 5"/>
          <p:cNvSpPr/>
          <p:nvPr/>
        </p:nvSpPr>
        <p:spPr>
          <a:xfrm>
            <a:off x="5577840" y="1188720"/>
            <a:ext cx="3108960" cy="1645920"/>
          </a:xfrm>
          <a:prstGeom prst="roundRect">
            <a:avLst>
              <a:gd name="adj" fmla="val 4444"/>
            </a:avLst>
          </a:prstGeom>
          <a:solidFill>
            <a:srgbClr val="EAF2F6"/>
          </a:solidFill>
          <a:ln w="12700">
            <a:solidFill>
              <a:srgbClr val="EAF2F6"/>
            </a:solidFill>
            <a:prstDash val="solid"/>
          </a:ln>
        </p:spPr>
      </p:sp>
      <p:sp>
        <p:nvSpPr>
          <p:cNvPr id="9" name="Text 6"/>
          <p:cNvSpPr txBox="1"/>
          <p:nvPr/>
        </p:nvSpPr>
        <p:spPr>
          <a:xfrm>
            <a:off x="5715000" y="1280160"/>
            <a:ext cx="2834640" cy="1463040"/>
          </a:xfrm>
          <a:prstGeom prst="rect">
            <a:avLst/>
          </a:prstGeom>
          <a:noFill/>
          <a:ln/>
        </p:spPr>
        <p:txBody>
          <a:bodyPr wrap="square" lIns="508" tIns="508" rIns="508" bIns="508" rtlCol="0" anchor="t"/>
          <a:lstStyle/>
          <a:p>
            <a:pPr indent="0" marL="0">
              <a:buNone/>
            </a:pPr>
            <a:r>
              <a:rPr lang="en-US" sz="1600" dirty="0">
                <a:solidFill>
                  <a:srgbClr val="0B2A3C"/>
                </a:solidFill>
                <a:latin typeface="Cambria" pitchFamily="34" charset="0"/>
                <a:ea typeface="Cambria" pitchFamily="34" charset="-122"/>
                <a:cs typeface="Cambria" pitchFamily="34" charset="-120"/>
              </a:rPr>
              <a:t>H</a:t>
            </a:r>
            <a:pPr indent="0" marL="0">
              <a:buNone/>
            </a:pPr>
            <a:r>
              <a:rPr lang="en-US" sz="1600" baseline="-40000" dirty="0">
                <a:solidFill>
                  <a:srgbClr val="0B2A3C"/>
                </a:solidFill>
                <a:latin typeface="Cambria" pitchFamily="34" charset="0"/>
                <a:ea typeface="Cambria" pitchFamily="34" charset="-122"/>
                <a:cs typeface="Cambria" pitchFamily="34" charset="-120"/>
              </a:rPr>
              <a:t>AB</a:t>
            </a:r>
            <a:pPr indent="0" marL="0">
              <a:buNone/>
            </a:pPr>
            <a:r>
              <a:rPr lang="en-US" sz="1600" dirty="0">
                <a:solidFill>
                  <a:srgbClr val="0B2A3C"/>
                </a:solidFill>
                <a:latin typeface="Cambria" pitchFamily="34" charset="0"/>
                <a:ea typeface="Cambria" pitchFamily="34" charset="-122"/>
                <a:cs typeface="Cambria" pitchFamily="34" charset="-120"/>
              </a:rPr>
              <a:t> = Σ</a:t>
            </a:r>
            <a:pPr indent="0" marL="0">
              <a:buNone/>
            </a:pPr>
            <a:r>
              <a:rPr lang="en-US" sz="1600" baseline="-40000" dirty="0">
                <a:solidFill>
                  <a:srgbClr val="0B2A3C"/>
                </a:solidFill>
                <a:latin typeface="Cambria" pitchFamily="34" charset="0"/>
                <a:ea typeface="Cambria" pitchFamily="34" charset="-122"/>
                <a:cs typeface="Cambria" pitchFamily="34" charset="-120"/>
              </a:rPr>
              <a:t>R</a:t>
            </a:r>
            <a:pPr indent="0" marL="0">
              <a:buNone/>
            </a:pPr>
            <a:r>
              <a:rPr lang="en-US" sz="1600" dirty="0">
                <a:solidFill>
                  <a:srgbClr val="0B2A3C"/>
                </a:solidFill>
                <a:latin typeface="Cambria" pitchFamily="34" charset="0"/>
                <a:ea typeface="Cambria" pitchFamily="34" charset="-122"/>
                <a:cs typeface="Cambria" pitchFamily="34" charset="-120"/>
              </a:rPr>
              <a:t> t</a:t>
            </a:r>
            <a:pPr indent="0" marL="0">
              <a:buNone/>
            </a:pPr>
            <a:r>
              <a:rPr lang="en-US" sz="1600" baseline="-40000" dirty="0">
                <a:solidFill>
                  <a:srgbClr val="0B2A3C"/>
                </a:solidFill>
                <a:latin typeface="Cambria" pitchFamily="34" charset="0"/>
                <a:ea typeface="Cambria" pitchFamily="34" charset="-122"/>
                <a:cs typeface="Cambria" pitchFamily="34" charset="-120"/>
              </a:rPr>
              <a:t>AB</a:t>
            </a:r>
            <a:pPr indent="0" marL="0">
              <a:buNone/>
            </a:pPr>
            <a:r>
              <a:rPr lang="en-US" sz="1600" dirty="0">
                <a:solidFill>
                  <a:srgbClr val="0B2A3C"/>
                </a:solidFill>
                <a:latin typeface="Cambria" pitchFamily="34" charset="0"/>
                <a:ea typeface="Cambria" pitchFamily="34" charset="-122"/>
                <a:cs typeface="Cambria" pitchFamily="34" charset="-120"/>
              </a:rPr>
              <a:t>(R) e</a:t>
            </a:r>
            <a:pPr indent="0" marL="0">
              <a:buNone/>
            </a:pPr>
            <a:r>
              <a:rPr lang="en-US" sz="1600" baseline="30000" dirty="0">
                <a:solidFill>
                  <a:srgbClr val="0B2A3C"/>
                </a:solidFill>
                <a:latin typeface="Cambria" pitchFamily="34" charset="0"/>
                <a:ea typeface="Cambria" pitchFamily="34" charset="-122"/>
                <a:cs typeface="Cambria" pitchFamily="34" charset="-120"/>
              </a:rPr>
              <a:t>ikR</a:t>
            </a:r>
            <a:endParaRPr lang="en-US" sz="1600" dirty="0"/>
          </a:p>
          <a:p>
            <a:pPr indent="0" marL="0">
              <a:buNone/>
            </a:pPr>
            <a:r>
              <a:rPr lang="en-US" sz="1600" dirty="0">
                <a:solidFill>
                  <a:srgbClr val="0B2A3C"/>
                </a:solidFill>
                <a:latin typeface="Cambria" pitchFamily="34" charset="0"/>
                <a:ea typeface="Cambria" pitchFamily="34" charset="-122"/>
                <a:cs typeface="Cambria" pitchFamily="34" charset="-120"/>
              </a:rPr>
              <a:t>= t₁ + t₂ e</a:t>
            </a:r>
            <a:pPr indent="0" marL="0">
              <a:buNone/>
            </a:pPr>
            <a:r>
              <a:rPr lang="en-US" sz="1600" baseline="30000" dirty="0">
                <a:solidFill>
                  <a:srgbClr val="0B2A3C"/>
                </a:solidFill>
                <a:latin typeface="Cambria" pitchFamily="34" charset="0"/>
                <a:ea typeface="Cambria" pitchFamily="34" charset="-122"/>
                <a:cs typeface="Cambria" pitchFamily="34" charset="-120"/>
              </a:rPr>
              <a:t>−ika</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eigenvalues and the gap</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18</a:t>
            </a:r>
            <a:endParaRPr lang="en-US" sz="900" dirty="0"/>
          </a:p>
        </p:txBody>
      </p:sp>
      <p:sp>
        <p:nvSpPr>
          <p:cNvPr id="7" name="Text 4"/>
          <p:cNvSpPr txBox="1"/>
          <p:nvPr/>
        </p:nvSpPr>
        <p:spPr>
          <a:xfrm>
            <a:off x="457200" y="1188720"/>
            <a:ext cx="4937760" cy="3291840"/>
          </a:xfrm>
          <a:prstGeom prst="rect">
            <a:avLst/>
          </a:prstGeom>
          <a:noFill/>
          <a:ln/>
        </p:spPr>
        <p:txBody>
          <a:bodyPr wrap="square" lIns="508" tIns="508" rIns="508" bIns="508" rtlCol="0" anchor="t"/>
          <a:lstStyle/>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det(H − E) = E² − |h|² = 0 → E = ±|h|</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|h|² = t₁² + t₂² + 2 t₁t₂ cos ka</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cos ka = 1 (k = 0): |h| = t₁ + t₂ (maximum)</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cos ka = −1 (k = π/a): |h| = |t₁ − t₂| (minimum)</a:t>
            </a:r>
            <a:endParaRPr lang="en-US" sz="1700" dirty="0"/>
          </a:p>
          <a:p>
            <a:pPr marL="342900" indent="-342900">
              <a:spcAft>
                <a:spcPts val="600"/>
              </a:spcAft>
              <a:buSzPct val="100000"/>
              <a:buChar char="•"/>
            </a:pPr>
            <a:r>
              <a:rPr lang="en-US" sz="1700" dirty="0">
                <a:solidFill>
                  <a:srgbClr val="1F2D3A"/>
                </a:solidFill>
                <a:latin typeface="Calibri" pitchFamily="34" charset="0"/>
                <a:ea typeface="Calibri" pitchFamily="34" charset="-122"/>
                <a:cs typeface="Calibri" pitchFamily="34" charset="-120"/>
              </a:rPr>
              <a:t>Gap = 2 min|h| = 2|t₁ − t₂|; symmetric under t₁ ↔ t₂</a:t>
            </a:r>
            <a:endParaRPr lang="en-US" sz="1700" dirty="0"/>
          </a:p>
        </p:txBody>
      </p:sp>
      <p:sp>
        <p:nvSpPr>
          <p:cNvPr id="8" name="Shape 5"/>
          <p:cNvSpPr/>
          <p:nvPr/>
        </p:nvSpPr>
        <p:spPr>
          <a:xfrm>
            <a:off x="5577840" y="1188720"/>
            <a:ext cx="3108960" cy="1371600"/>
          </a:xfrm>
          <a:prstGeom prst="roundRect">
            <a:avLst>
              <a:gd name="adj" fmla="val 5333"/>
            </a:avLst>
          </a:prstGeom>
          <a:solidFill>
            <a:srgbClr val="E07A1F"/>
          </a:solidFill>
          <a:ln w="12700">
            <a:solidFill>
              <a:srgbClr val="E07A1F"/>
            </a:solidFill>
            <a:prstDash val="solid"/>
          </a:ln>
        </p:spPr>
      </p:sp>
      <p:sp>
        <p:nvSpPr>
          <p:cNvPr id="9" name="Text 6"/>
          <p:cNvSpPr txBox="1"/>
          <p:nvPr/>
        </p:nvSpPr>
        <p:spPr>
          <a:xfrm>
            <a:off x="5669280" y="1234440"/>
            <a:ext cx="2926080" cy="1280160"/>
          </a:xfrm>
          <a:prstGeom prst="rect">
            <a:avLst/>
          </a:prstGeom>
          <a:noFill/>
          <a:ln/>
        </p:spPr>
        <p:txBody>
          <a:bodyPr wrap="square" lIns="508" tIns="508" rIns="508" bIns="508"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E</a:t>
            </a:r>
            <a:pPr algn="ctr" indent="0" marL="0">
              <a:buNone/>
            </a:pPr>
            <a:r>
              <a:rPr lang="en-US" sz="2200" b="1" baseline="-40000" dirty="0">
                <a:solidFill>
                  <a:srgbClr val="FFFFFF"/>
                </a:solidFill>
                <a:latin typeface="Cambria" pitchFamily="34" charset="0"/>
                <a:ea typeface="Cambria" pitchFamily="34" charset="-122"/>
                <a:cs typeface="Cambria" pitchFamily="34" charset="-120"/>
              </a:rPr>
              <a:t>gap</a:t>
            </a:r>
            <a:pPr algn="ctr" indent="0" marL="0">
              <a:buNone/>
            </a:pPr>
            <a:r>
              <a:rPr lang="en-US" sz="2200" b="1" dirty="0">
                <a:solidFill>
                  <a:srgbClr val="FFFFFF"/>
                </a:solidFill>
                <a:latin typeface="Cambria" pitchFamily="34" charset="0"/>
                <a:ea typeface="Cambria" pitchFamily="34" charset="-122"/>
                <a:cs typeface="Cambria" pitchFamily="34" charset="-120"/>
              </a:rPr>
              <a:t> = 2|t₁ − t₂|</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monatomic chain (reference)</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19</a:t>
            </a:r>
            <a:endParaRPr lang="en-US" sz="900" dirty="0"/>
          </a:p>
        </p:txBody>
      </p:sp>
      <p:pic>
        <p:nvPicPr>
          <p:cNvPr id="7" name="Image 0" descr="../midterm-tight-binding/output/figs/fig1_monatomic.png">    </p:cNvPr>
          <p:cNvPicPr>
            <a:picLocks noChangeAspect="1"/>
          </p:cNvPicPr>
          <p:nvPr/>
        </p:nvPicPr>
        <p:blipFill>
          <a:blip r:embed="rId1"/>
          <a:stretch>
            <a:fillRect/>
          </a:stretch>
        </p:blipFill>
        <p:spPr>
          <a:xfrm>
            <a:off x="457200" y="1188720"/>
            <a:ext cx="4206240" cy="2944368"/>
          </a:xfrm>
          <a:prstGeom prst="rect">
            <a:avLst/>
          </a:prstGeom>
        </p:spPr>
      </p:pic>
      <p:sp>
        <p:nvSpPr>
          <p:cNvPr id="8" name="Text 4"/>
          <p:cNvSpPr txBox="1"/>
          <p:nvPr/>
        </p:nvSpPr>
        <p:spPr>
          <a:xfrm>
            <a:off x="4937760" y="1188720"/>
            <a:ext cx="3749040" cy="3108960"/>
          </a:xfrm>
          <a:prstGeom prst="rect">
            <a:avLst/>
          </a:prstGeom>
          <a:noFill/>
          <a:ln/>
        </p:spPr>
        <p:txBody>
          <a:bodyPr wrap="square" lIns="508" tIns="508" rIns="508" bIns="508" rtlCol="0" anchor="t"/>
          <a:lstStyle/>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E(k) = ε₀ − 2t cos ka, bandwidth 4t</a:t>
            </a:r>
            <a:endParaRPr lang="en-US" sz="1400" dirty="0"/>
          </a:p>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N k-points, 2N spin states, N electrons → half-filled → metal</a:t>
            </a:r>
            <a:endParaRPr lang="en-US" sz="1400" dirty="0"/>
          </a:p>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Re-counting with a 2-atom cell folds the band</a:t>
            </a:r>
            <a:endParaRPr lang="en-US" sz="1400" dirty="0"/>
          </a:p>
          <a:p>
            <a:pPr marL="342900" indent="-342900">
              <a:spcAft>
                <a:spcPts val="600"/>
              </a:spcAft>
              <a:buSzPct val="100000"/>
              <a:buChar char="•"/>
            </a:pPr>
            <a:r>
              <a:rPr lang="en-US" sz="1400" dirty="0">
                <a:solidFill>
                  <a:srgbClr val="1F2D3A"/>
                </a:solidFill>
                <a:latin typeface="Calibri" pitchFamily="34" charset="0"/>
                <a:ea typeface="Calibri" pitchFamily="34" charset="-122"/>
                <a:cs typeface="Calibri" pitchFamily="34" charset="-120"/>
              </a:rPr>
              <a:t>SSH with t₁ = t₂ equals this chain (spectrum difference 0)</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k-grid parity table</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886968"/>
                <a:gridCol w="886968"/>
                <a:gridCol w="886968"/>
                <a:gridCol w="886968"/>
                <a:gridCol w="886968"/>
                <a:gridCol w="886968"/>
                <a:gridCol w="89611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error vs N_k</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5</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7</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16</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17</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32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N_k = 33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502920">
                <a:tc>
                  <a:txBody>
                    <a:bodyPr/>
                    <a:lstStyle/>
                    <a:p>
                      <a:pPr indent="0" marL="0">
                        <a:buNone/>
                      </a:pPr>
                      <a:r>
                        <a:rPr lang="en-US" sz="1200" b="1" dirty="0">
                          <a:solidFill>
                            <a:srgbClr val="1F2D3A"/>
                          </a:solidFill>
                          <a:latin typeface="Calibri" pitchFamily="34" charset="0"/>
                          <a:ea typeface="Calibri" pitchFamily="34" charset="-122"/>
                          <a:cs typeface="Calibri" pitchFamily="34" charset="-120"/>
                        </a:rPr>
                        <a:t>t₂ = 0.5 (gap 1.0)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+0.732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+0.328</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+0.182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2E8B6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+0.033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2E8B6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+0.009</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502920">
                <a:tc>
                  <a:txBody>
                    <a:bodyPr/>
                    <a:lstStyle/>
                    <a:p>
                      <a:pPr indent="0" marL="0">
                        <a:buNone/>
                      </a:pPr>
                      <a:r>
                        <a:rPr lang="en-US" sz="1200" b="1" dirty="0">
                          <a:solidFill>
                            <a:srgbClr val="1F2D3A"/>
                          </a:solidFill>
                          <a:latin typeface="Calibri" pitchFamily="34" charset="0"/>
                          <a:ea typeface="Calibri" pitchFamily="34" charset="-122"/>
                          <a:cs typeface="Calibri" pitchFamily="34" charset="-120"/>
                        </a:rPr>
                        <a:t>t₂ = 0.95 (gap 0.1)</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+1.852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+1.109</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+0.773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2E8B6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+0.273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2E8B6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+0.111</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
        <p:nvSpPr>
          <p:cNvPr id="8" name="Text 4"/>
          <p:cNvSpPr txBox="1"/>
          <p:nvPr/>
        </p:nvSpPr>
        <p:spPr>
          <a:xfrm>
            <a:off x="457200" y="3108960"/>
            <a:ext cx="8229600" cy="1463040"/>
          </a:xfrm>
          <a:prstGeom prst="rect">
            <a:avLst/>
          </a:prstGeom>
          <a:noFill/>
          <a:ln/>
        </p:spPr>
        <p:txBody>
          <a:bodyPr wrap="square" lIns="508" tIns="508" rIns="508" bIns="508" rtlCol="0" anchor="t"/>
          <a:lstStyle/>
          <a:p>
            <a:pPr marL="342900" indent="-342900">
              <a:spcAft>
                <a:spcPts val="600"/>
              </a:spcAft>
              <a:buSzPct val="100000"/>
              <a:buChar char="•"/>
            </a:pPr>
            <a:r>
              <a:rPr lang="en-US" sz="1500" dirty="0">
                <a:solidFill>
                  <a:srgbClr val="1F2D3A"/>
                </a:solidFill>
                <a:latin typeface="Calibri" pitchFamily="34" charset="0"/>
                <a:ea typeface="Calibri" pitchFamily="34" charset="-122"/>
                <a:cs typeface="Calibri" pitchFamily="34" charset="-120"/>
              </a:rPr>
              <a:t>Grid k_j = 2πj/N_k: for even N_k, j = N_k/2 gives k = π exactly (error 0)</a:t>
            </a:r>
            <a:endParaRPr lang="en-US" sz="1500" dirty="0"/>
          </a:p>
          <a:p>
            <a:pPr marL="342900" indent="-342900">
              <a:spcAft>
                <a:spcPts val="600"/>
              </a:spcAft>
              <a:buSzPct val="100000"/>
              <a:buChar char="•"/>
            </a:pPr>
            <a:r>
              <a:rPr lang="en-US" sz="1500" dirty="0">
                <a:solidFill>
                  <a:srgbClr val="1F2D3A"/>
                </a:solidFill>
                <a:latin typeface="Calibri" pitchFamily="34" charset="0"/>
                <a:ea typeface="Calibri" pitchFamily="34" charset="-122"/>
                <a:cs typeface="Calibri" pitchFamily="34" charset="-120"/>
              </a:rPr>
              <a:t>Odd N_k reads the gap at π − π/N_k, which overestimates it</a:t>
            </a:r>
            <a:endParaRPr lang="en-US" sz="1500" dirty="0"/>
          </a:p>
          <a:p>
            <a:pPr marL="342900" indent="-342900">
              <a:spcAft>
                <a:spcPts val="600"/>
              </a:spcAft>
              <a:buSzPct val="100000"/>
              <a:buChar char="•"/>
            </a:pPr>
            <a:r>
              <a:rPr lang="en-US" sz="1500" dirty="0">
                <a:solidFill>
                  <a:srgbClr val="1F2D3A"/>
                </a:solidFill>
                <a:latin typeface="Calibri" pitchFamily="34" charset="0"/>
                <a:ea typeface="Calibri" pitchFamily="34" charset="-122"/>
                <a:cs typeface="Calibri" pitchFamily="34" charset="-120"/>
              </a:rPr>
              <a:t>The smaller the gap, the finer the k grid must be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finite-chain gap convergence</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21</a:t>
            </a:r>
            <a:endParaRPr lang="en-US" sz="900" dirty="0"/>
          </a:p>
        </p:txBody>
      </p:sp>
      <p:sp>
        <p:nvSpPr>
          <p:cNvPr id="7" name="Shape 4"/>
          <p:cNvSpPr/>
          <p:nvPr/>
        </p:nvSpPr>
        <p:spPr>
          <a:xfrm>
            <a:off x="457200" y="1143000"/>
            <a:ext cx="8229600" cy="868680"/>
          </a:xfrm>
          <a:prstGeom prst="roundRect">
            <a:avLst>
              <a:gd name="adj" fmla="val 8421"/>
            </a:avLst>
          </a:prstGeom>
          <a:solidFill>
            <a:srgbClr val="EAF2F6"/>
          </a:solidFill>
          <a:ln w="12700">
            <a:solidFill>
              <a:srgbClr val="EAF2F6"/>
            </a:solidFill>
            <a:prstDash val="solid"/>
          </a:ln>
        </p:spPr>
      </p:sp>
      <p:sp>
        <p:nvSpPr>
          <p:cNvPr id="8" name="Text 5"/>
          <p:cNvSpPr txBox="1"/>
          <p:nvPr/>
        </p:nvSpPr>
        <p:spPr>
          <a:xfrm>
            <a:off x="594360" y="1188720"/>
            <a:ext cx="7955280" cy="777240"/>
          </a:xfrm>
          <a:prstGeom prst="rect">
            <a:avLst/>
          </a:prstGeom>
          <a:noFill/>
          <a:ln/>
        </p:spPr>
        <p:txBody>
          <a:bodyPr wrap="square" lIns="508" tIns="508" rIns="508" bIns="508" rtlCol="0" anchor="ctr"/>
          <a:lstStyle/>
          <a:p>
            <a:pPr indent="0" marL="0">
              <a:buNone/>
            </a:pPr>
            <a:r>
              <a:rPr lang="en-US" sz="1500" dirty="0">
                <a:solidFill>
                  <a:srgbClr val="0B2A3C"/>
                </a:solidFill>
                <a:latin typeface="Cambria" pitchFamily="34" charset="0"/>
                <a:ea typeface="Cambria" pitchFamily="34" charset="-122"/>
                <a:cs typeface="Cambria" pitchFamily="34" charset="-120"/>
              </a:rPr>
              <a:t>|h| ≈ |t₁ − t₂| + t₁t₂ q² / (2|t₁ − t₂|),  q ~ π/N_c   →   error ≈ t₁t₂ π² / (2|t₁ − t₂| N_c²)   (4.93 / N_c² for t₂ = 0.5)</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2377440"/>
                <a:gridCol w="1170432"/>
                <a:gridCol w="1170432"/>
                <a:gridCol w="1170432"/>
                <a:gridCol w="1170432"/>
                <a:gridCol w="1170432"/>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lowest bulk |E| − |t₁ − t₂|</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N_c = 10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N_c = 20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N_c = 40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N_c = 80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N_c = 160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0B2A3C"/>
                    </a:solidFill>
                  </a:tcPr>
                </a:tc>
              </a:tr>
              <a:tr h="384048">
                <a:tc>
                  <a:txBody>
                    <a:bodyPr/>
                    <a:lstStyle/>
                    <a:p>
                      <a:pPr indent="0" marL="0">
                        <a:buNone/>
                      </a:pPr>
                      <a:r>
                        <a:rPr lang="en-US" sz="1200" b="1" dirty="0">
                          <a:solidFill>
                            <a:srgbClr val="1F2D3A"/>
                          </a:solidFill>
                          <a:latin typeface="Calibri" pitchFamily="34" charset="0"/>
                          <a:ea typeface="Calibri" pitchFamily="34" charset="-122"/>
                          <a:cs typeface="Calibri" pitchFamily="34" charset="-120"/>
                        </a:rPr>
                        <a:t>t₂ = 0.5: error</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3.3e-02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1.0e-02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2.8e-03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7.3e-04</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1.9e-04</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384048">
                <a:tc>
                  <a:txBody>
                    <a:bodyPr/>
                    <a:lstStyle/>
                    <a:p>
                      <a:pPr indent="0" marL="0">
                        <a:buNone/>
                      </a:pPr>
                      <a:r>
                        <a:rPr lang="en-US" sz="1200" dirty="0">
                          <a:solidFill>
                            <a:srgbClr val="6B7C8A"/>
                          </a:solidFill>
                          <a:latin typeface="Calibri" pitchFamily="34" charset="0"/>
                          <a:ea typeface="Calibri" pitchFamily="34" charset="-122"/>
                          <a:cs typeface="Calibri" pitchFamily="34" charset="-120"/>
                        </a:rPr>
                        <a:t>t₂ = 0.5: ratio to next</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3.62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3.80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3.90</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384048">
                <a:tc>
                  <a:txBody>
                    <a:bodyPr/>
                    <a:lstStyle/>
                    <a:p>
                      <a:pPr indent="0" marL="0">
                        <a:buNone/>
                      </a:pPr>
                      <a:r>
                        <a:rPr lang="en-US" sz="1200" b="1" dirty="0">
                          <a:solidFill>
                            <a:srgbClr val="1F2D3A"/>
                          </a:solidFill>
                          <a:latin typeface="Calibri" pitchFamily="34" charset="0"/>
                          <a:ea typeface="Calibri" pitchFamily="34" charset="-122"/>
                          <a:cs typeface="Calibri" pitchFamily="34" charset="-120"/>
                        </a:rPr>
                        <a:t>t₂ = 0.9: error</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1.1e-01</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4.7e-02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1.7e-02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5.4e-03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1F2D3A"/>
                          </a:solidFill>
                          <a:latin typeface="Calibri" pitchFamily="34" charset="0"/>
                          <a:ea typeface="Calibri" pitchFamily="34" charset="-122"/>
                          <a:cs typeface="Calibri" pitchFamily="34" charset="-120"/>
                        </a:rPr>
                        <a:t>1.5e-03</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r h="384048">
                <a:tc>
                  <a:txBody>
                    <a:bodyPr/>
                    <a:lstStyle/>
                    <a:p>
                      <a:pPr indent="0" marL="0">
                        <a:buNone/>
                      </a:pPr>
                      <a:r>
                        <a:rPr lang="en-US" sz="1200" dirty="0">
                          <a:solidFill>
                            <a:srgbClr val="6B7C8A"/>
                          </a:solidFill>
                          <a:latin typeface="Calibri" pitchFamily="34" charset="0"/>
                          <a:ea typeface="Calibri" pitchFamily="34" charset="-122"/>
                          <a:cs typeface="Calibri" pitchFamily="34" charset="-120"/>
                        </a:rPr>
                        <a:t>t₂ = 0.9: ratio to next</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2.38</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2.74</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3.16</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algn="ctr" indent="0" marL="0">
                        <a:buNone/>
                      </a:pPr>
                      <a:r>
                        <a:rPr lang="en-US" sz="1200" dirty="0">
                          <a:solidFill>
                            <a:srgbClr val="6B7C8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r>
            </a:tbl>
          </a:graphicData>
        </a:graphic>
      </p:graphicFrame>
      <p:sp>
        <p:nvSpPr>
          <p:cNvPr id="10" name="Text 6"/>
          <p:cNvSpPr txBox="1"/>
          <p:nvPr/>
        </p:nvSpPr>
        <p:spPr>
          <a:xfrm>
            <a:off x="457200" y="4343400"/>
            <a:ext cx="8229600" cy="320040"/>
          </a:xfrm>
          <a:prstGeom prst="rect">
            <a:avLst/>
          </a:prstGeom>
          <a:noFill/>
          <a:ln/>
        </p:spPr>
        <p:txBody>
          <a:bodyPr wrap="square" lIns="508" tIns="508" rIns="508" bIns="508" rtlCol="0" anchor="t"/>
          <a:lstStyle/>
          <a:p>
            <a:pPr indent="0" marL="0">
              <a:buNone/>
            </a:pPr>
            <a:r>
              <a:rPr lang="en-US" sz="1200" dirty="0">
                <a:solidFill>
                  <a:srgbClr val="6B7C8A"/>
                </a:solidFill>
                <a:latin typeface="Calibri" pitchFamily="34" charset="0"/>
                <a:ea typeface="Calibri" pitchFamily="34" charset="-122"/>
                <a:cs typeface="Calibri" pitchFamily="34" charset="-120"/>
              </a:rPr>
              <a:t>Ratios approach 4 as N_c grows; for the small gap (t₂ = 0.9) they are still 2.4 to 3.5.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6858000" cy="731520"/>
          </a:xfrm>
          <a:prstGeom prst="rect">
            <a:avLst/>
          </a:prstGeom>
          <a:noFill/>
          <a:ln/>
        </p:spPr>
        <p:txBody>
          <a:bodyPr wrap="square" lIns="0" tIns="0" rIns="0" bIns="0" rtlCol="0" anchor="ctr"/>
          <a:lstStyle/>
          <a:p>
            <a:pPr indent="0" marL="0">
              <a:buNone/>
            </a:pPr>
            <a:r>
              <a:rPr lang="en-US" sz="2600" b="1" dirty="0">
                <a:solidFill>
                  <a:srgbClr val="0B2A3C"/>
                </a:solidFill>
                <a:latin typeface="Calibri" pitchFamily="34" charset="0"/>
                <a:ea typeface="Calibri" pitchFamily="34" charset="-122"/>
                <a:cs typeface="Calibri" pitchFamily="34" charset="-120"/>
              </a:rPr>
              <a:t>Backup: reproducibility and sources</a:t>
            </a:r>
            <a:endParaRPr lang="en-US" sz="2600" dirty="0"/>
          </a:p>
        </p:txBody>
      </p:sp>
      <p:sp>
        <p:nvSpPr>
          <p:cNvPr id="3" name="Text 1"/>
          <p:cNvSpPr txBox="1"/>
          <p:nvPr/>
        </p:nvSpPr>
        <p:spPr>
          <a:xfrm>
            <a:off x="7406640" y="384048"/>
            <a:ext cx="1280160" cy="274320"/>
          </a:xfrm>
          <a:prstGeom prst="roundRect">
            <a:avLst>
              <a:gd name="adj" fmla="val 50000"/>
            </a:avLst>
          </a:prstGeom>
          <a:solidFill>
            <a:srgbClr val="6B7C8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Backup</a:t>
            </a:r>
            <a:endParaRPr lang="en-US" sz="1000" dirty="0"/>
          </a:p>
        </p:txBody>
      </p:sp>
      <p:sp>
        <p:nvSpPr>
          <p:cNvPr id="4" name="Text 2"/>
          <p:cNvSpPr txBox="1"/>
          <p:nvPr/>
        </p:nvSpPr>
        <p:spPr>
          <a:xfrm>
            <a:off x="457200" y="4773168"/>
            <a:ext cx="3657600" cy="228600"/>
          </a:xfrm>
          <a:prstGeom prst="rect">
            <a:avLst/>
          </a:prstGeom>
          <a:noFill/>
          <a:ln/>
        </p:spPr>
        <p:txBody>
          <a:bodyPr wrap="square" lIns="0" tIns="0" rIns="0" bIns="0" rtlCol="0" anchor="ctr"/>
          <a:lstStyle/>
          <a:p>
            <a:pPr indent="0" marL="0">
              <a:buNone/>
            </a:pPr>
            <a:r>
              <a:rPr lang="en-US" sz="900" dirty="0">
                <a:solidFill>
                  <a:srgbClr val="6B7C8A"/>
                </a:solidFill>
                <a:latin typeface="Calibri" pitchFamily="34" charset="0"/>
                <a:ea typeface="Calibri" pitchFamily="34" charset="-122"/>
                <a:cs typeface="Calibri" pitchFamily="34" charset="-120"/>
              </a:rPr>
              <a:t>SSH chain · band gap</a:t>
            </a:r>
            <a:endParaRPr lang="en-US" sz="900" dirty="0"/>
          </a:p>
        </p:txBody>
      </p:sp>
      <p:sp>
        <p:nvSpPr>
          <p:cNvPr id="5" name="Text 3"/>
          <p:cNvSpPr txBox="1"/>
          <p:nvPr/>
        </p:nvSpPr>
        <p:spPr>
          <a:xfrm>
            <a:off x="8138160" y="4773168"/>
            <a:ext cx="548640" cy="228600"/>
          </a:xfrm>
          <a:prstGeom prst="rect">
            <a:avLst/>
          </a:prstGeom>
          <a:noFill/>
          <a:ln/>
        </p:spPr>
        <p:txBody>
          <a:bodyPr wrap="square" lIns="0" tIns="0" rIns="0" bIns="0" rtlCol="0" anchor="ctr"/>
          <a:lstStyle/>
          <a:p>
            <a:pPr algn="r" indent="0" marL="0">
              <a:buNone/>
            </a:pPr>
            <a:r>
              <a:rPr lang="en-US" sz="900" dirty="0">
                <a:solidFill>
                  <a:srgbClr val="6B7C8A"/>
                </a:solidFill>
                <a:latin typeface="Calibri" pitchFamily="34" charset="0"/>
                <a:ea typeface="Calibri" pitchFamily="34" charset="-122"/>
                <a:cs typeface="Calibri" pitchFamily="34" charset="-120"/>
              </a:rPr>
              <a:t>22</a:t>
            </a:r>
            <a:endParaRPr lang="en-US" sz="900" dirty="0"/>
          </a:p>
        </p:txBody>
      </p:sp>
      <p:sp>
        <p:nvSpPr>
          <p:cNvPr id="7" name="Text 4"/>
          <p:cNvSpPr txBox="1"/>
          <p:nvPr/>
        </p:nvSpPr>
        <p:spPr>
          <a:xfrm>
            <a:off x="457200" y="1143000"/>
            <a:ext cx="4023360" cy="320040"/>
          </a:xfrm>
          <a:prstGeom prst="rect">
            <a:avLst/>
          </a:prstGeom>
          <a:noFill/>
          <a:ln/>
        </p:spPr>
        <p:txBody>
          <a:bodyPr wrap="square" lIns="508" tIns="508" rIns="508" bIns="508" rtlCol="0" anchor="t"/>
          <a:lstStyle/>
          <a:p>
            <a:pPr indent="0" marL="0">
              <a:buNone/>
            </a:pPr>
            <a:r>
              <a:rPr lang="en-US" sz="1600" b="1" dirty="0">
                <a:solidFill>
                  <a:srgbClr val="0B2A3C"/>
                </a:solidFill>
                <a:latin typeface="Calibri" pitchFamily="34" charset="0"/>
                <a:ea typeface="Calibri" pitchFamily="34" charset="-122"/>
                <a:cs typeface="Calibri" pitchFamily="34" charset="-120"/>
              </a:rPr>
              <a:t>Run</a:t>
            </a:r>
            <a:endParaRPr lang="en-US" sz="1600" dirty="0"/>
          </a:p>
        </p:txBody>
      </p:sp>
      <p:sp>
        <p:nvSpPr>
          <p:cNvPr id="8" name="Text 5"/>
          <p:cNvSpPr txBox="1"/>
          <p:nvPr/>
        </p:nvSpPr>
        <p:spPr>
          <a:xfrm>
            <a:off x="457200" y="1508760"/>
            <a:ext cx="4023360" cy="182880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Notebook: Restart Kernel and Run All (~10 s)</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python project.py → output/</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input/params.json holds every setting</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manifest.json: SHA-256 of all files</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requirements.txt: pinned versions</a:t>
            </a:r>
            <a:endParaRPr lang="en-US" sz="1300" dirty="0"/>
          </a:p>
        </p:txBody>
      </p:sp>
      <p:sp>
        <p:nvSpPr>
          <p:cNvPr id="9" name="Text 6"/>
          <p:cNvSpPr txBox="1"/>
          <p:nvPr/>
        </p:nvSpPr>
        <p:spPr>
          <a:xfrm>
            <a:off x="457200" y="3154680"/>
            <a:ext cx="4023360" cy="320040"/>
          </a:xfrm>
          <a:prstGeom prst="rect">
            <a:avLst/>
          </a:prstGeom>
          <a:noFill/>
          <a:ln/>
        </p:spPr>
        <p:txBody>
          <a:bodyPr wrap="square" lIns="508" tIns="508" rIns="508" bIns="508" rtlCol="0" anchor="t"/>
          <a:lstStyle/>
          <a:p>
            <a:pPr indent="0" marL="0">
              <a:buNone/>
            </a:pPr>
            <a:r>
              <a:rPr lang="en-US" sz="1600" b="1" dirty="0">
                <a:solidFill>
                  <a:srgbClr val="0B2A3C"/>
                </a:solidFill>
                <a:latin typeface="Calibri" pitchFamily="34" charset="0"/>
                <a:ea typeface="Calibri" pitchFamily="34" charset="-122"/>
                <a:cs typeface="Calibri" pitchFamily="34" charset="-120"/>
              </a:rPr>
              <a:t>AI assistance</a:t>
            </a:r>
            <a:endParaRPr lang="en-US" sz="1600" dirty="0"/>
          </a:p>
        </p:txBody>
      </p:sp>
      <p:sp>
        <p:nvSpPr>
          <p:cNvPr id="10" name="Text 7"/>
          <p:cNvSpPr txBox="1"/>
          <p:nvPr/>
        </p:nvSpPr>
        <p:spPr>
          <a:xfrm>
            <a:off x="457200" y="3520440"/>
            <a:ext cx="4023360" cy="109728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Code, validation design, README and slides were written by Claude (Anthropic). The presenter is responsible for understanding the model, code, results and limits.</a:t>
            </a:r>
            <a:endParaRPr lang="en-US" sz="1300" dirty="0"/>
          </a:p>
        </p:txBody>
      </p:sp>
      <p:sp>
        <p:nvSpPr>
          <p:cNvPr id="11" name="Text 8"/>
          <p:cNvSpPr txBox="1"/>
          <p:nvPr/>
        </p:nvSpPr>
        <p:spPr>
          <a:xfrm>
            <a:off x="4754880" y="1143000"/>
            <a:ext cx="3931920" cy="320040"/>
          </a:xfrm>
          <a:prstGeom prst="rect">
            <a:avLst/>
          </a:prstGeom>
          <a:noFill/>
          <a:ln/>
        </p:spPr>
        <p:txBody>
          <a:bodyPr wrap="square" lIns="508" tIns="508" rIns="508" bIns="508" rtlCol="0" anchor="t"/>
          <a:lstStyle/>
          <a:p>
            <a:pPr indent="0" marL="0">
              <a:buNone/>
            </a:pPr>
            <a:r>
              <a:rPr lang="en-US" sz="1600" b="1" dirty="0">
                <a:solidFill>
                  <a:srgbClr val="0B2A3C"/>
                </a:solidFill>
                <a:latin typeface="Calibri" pitchFamily="34" charset="0"/>
                <a:ea typeface="Calibri" pitchFamily="34" charset="-122"/>
                <a:cs typeface="Calibri" pitchFamily="34" charset="-120"/>
              </a:rPr>
              <a:t>References</a:t>
            </a:r>
            <a:endParaRPr lang="en-US" sz="1600" dirty="0"/>
          </a:p>
        </p:txBody>
      </p:sp>
      <p:sp>
        <p:nvSpPr>
          <p:cNvPr id="12" name="Text 9"/>
          <p:cNvSpPr txBox="1"/>
          <p:nvPr/>
        </p:nvSpPr>
        <p:spPr>
          <a:xfrm>
            <a:off x="4754880" y="1508760"/>
            <a:ext cx="3931920" cy="2743200"/>
          </a:xfrm>
          <a:prstGeom prst="rect">
            <a:avLst/>
          </a:prstGeom>
          <a:noFill/>
          <a:ln/>
        </p:spPr>
        <p:txBody>
          <a:bodyPr wrap="square" lIns="508" tIns="508" rIns="508" bIns="508" rtlCol="0" anchor="t"/>
          <a:lstStyle/>
          <a:p>
            <a:pPr indent="0" marL="0">
              <a:buNone/>
            </a:pPr>
            <a:r>
              <a:rPr lang="en-US" sz="1300" dirty="0">
                <a:solidFill>
                  <a:srgbClr val="1F2D3A"/>
                </a:solidFill>
                <a:latin typeface="Calibri" pitchFamily="34" charset="0"/>
                <a:ea typeface="Calibri" pitchFamily="34" charset="-122"/>
                <a:cs typeface="Calibri" pitchFamily="34" charset="-120"/>
              </a:rPr>
              <a:t>W. P. Su, J. R. Schrieffer, A. J. Heeger, Phys. Rev. Lett. 42, 1698 (1979)</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J. K. Asbóth, L. Oroszlány, A. Pályi, A Short Course on Topological Insulators (2016), arXiv:1509.02295</a:t>
            </a:r>
            <a:endParaRPr lang="en-US" sz="1300" dirty="0"/>
          </a:p>
          <a:p>
            <a:pPr indent="0" marL="0">
              <a:buNone/>
            </a:pPr>
            <a:r>
              <a:rPr lang="en-US" sz="1300" dirty="0">
                <a:solidFill>
                  <a:srgbClr val="1F2D3A"/>
                </a:solidFill>
                <a:latin typeface="Calibri" pitchFamily="34" charset="0"/>
                <a:ea typeface="Calibri" pitchFamily="34" charset="-122"/>
                <a:cs typeface="Calibri" pitchFamily="34" charset="-120"/>
              </a:rPr>
              <a:t>Peierls instability and zone folding: cited from theory, not derived here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Band Gap of the SSH Chain</dc:title>
  <dc:subject>PptxGenJS Presentation</dc:subject>
  <dc:creator>Hyosan Shin</dc:creator>
  <cp:lastModifiedBy>Hyosan Shin</cp:lastModifiedBy>
  <cp:revision>1</cp:revision>
  <dcterms:created xsi:type="dcterms:W3CDTF">2026-10-09T04:48:30Z</dcterms:created>
  <dcterms:modified xsi:type="dcterms:W3CDTF">2026-10-09T04:48:30Z</dcterms:modified>
</cp:coreProperties>
</file>